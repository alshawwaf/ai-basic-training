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Calibri"/>
              </a:rP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Lesson 2.1  |  Stage 2: Intermediate ML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Feature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Turning Raw Security Logs into ML-Ready Features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Why raw logs fail - sklearn needs numbers</a:t>
            </a:r>
          </a:p>
          <a:p>
            <a:r>
              <a:rPr sz="1600">
                <a:latin typeface="Calibri"/>
              </a:rPr>
              <a:t>Five types of features to extract from security data</a:t>
            </a:r>
          </a:p>
          <a:p>
            <a:r>
              <a:rPr sz="1600">
                <a:latin typeface="Calibri"/>
              </a:rPr>
              <a:t>The feature engineering pipeline</a:t>
            </a:r>
          </a:p>
          <a:p>
            <a:r>
              <a:rPr sz="1600">
                <a:latin typeface="Calibri"/>
              </a:rPr>
              <a:t>Feature selection - removing noise and redundancy</a:t>
            </a:r>
          </a:p>
          <a:p>
            <a:r>
              <a:rPr sz="1600">
                <a:latin typeface="Calibri"/>
              </a:rPr>
              <a:t>Impact on model performance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Why Raw</a:t>
            </a:r>
          </a:p>
          <a:p>
            <a:r>
              <a:rPr b="1">
                <a:latin typeface="Calibri"/>
              </a:rPr>
              <a:t>Logs Fail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Raw Data vs Engineered Features</a:t>
            </a:r>
          </a:p>
        </p:txBody>
      </p:sp>
      <p:pic>
        <p:nvPicPr>
          <p:cNvPr id="3" name="Picture 2" descr="raw_vs_f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6308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Feature engineering is often</a:t>
            </a:r>
          </a:p>
          <a:p>
            <a:r>
              <a:rPr sz="1400">
                <a:latin typeface="Calibri"/>
              </a:rPr>
              <a:t>where the most value comes</a:t>
            </a:r>
          </a:p>
          <a:p>
            <a:r>
              <a:rPr sz="1400">
                <a:latin typeface="Calibri"/>
              </a:rPr>
              <a:t>from in a real ML project.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80% of the work, 80% of</a:t>
            </a:r>
          </a:p>
          <a:p>
            <a:r>
              <a:rPr sz="1400">
                <a:latin typeface="Calibri"/>
              </a:rPr>
              <a:t>the impact.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Core Problem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sklearn accepts only numerical matrices</a:t>
            </a:r>
          </a:p>
          <a:p>
            <a:r>
              <a:rPr sz="1400">
                <a:latin typeface="Calibri"/>
              </a:rPr>
              <a:t>  No strings, no timestamps, no IPs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Raw log line has all the signal</a:t>
            </a:r>
          </a:p>
          <a:p>
            <a:r>
              <a:rPr sz="1400">
                <a:latin typeface="Calibri"/>
              </a:rPr>
              <a:t>  but in the wrong format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Feature engineering is the bridge</a:t>
            </a:r>
          </a:p>
          <a:p>
            <a:r>
              <a:rPr sz="1400">
                <a:latin typeface="Calibri"/>
              </a:rPr>
              <a:t>  from raw data to model input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Five Types of</a:t>
            </a:r>
          </a:p>
          <a:p>
            <a:r>
              <a:rPr b="1">
                <a:latin typeface="Calibri"/>
              </a:rPr>
              <a:t>Security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Feature Types for Security Log Data</a:t>
            </a:r>
          </a:p>
        </p:txBody>
      </p:sp>
      <p:pic>
        <p:nvPicPr>
          <p:cNvPr id="3" name="Picture 2" descr="feat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47271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Examples in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Time-based:</a:t>
            </a:r>
          </a:p>
          <a:p>
            <a:r>
              <a:rPr sz="1400">
                <a:latin typeface="Calibri"/>
              </a:rPr>
              <a:t>  df['hour'] = df['ts'].dt.hour</a:t>
            </a:r>
          </a:p>
          <a:p>
            <a:r>
              <a:rPr sz="1400">
                <a:latin typeface="Calibri"/>
              </a:rPr>
              <a:t>  df['after_hrs'] = hour &lt; 6 | hour &gt; 22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Aggregation:</a:t>
            </a:r>
          </a:p>
          <a:p>
            <a:r>
              <a:rPr sz="1400">
                <a:latin typeface="Calibri"/>
              </a:rPr>
              <a:t>  df.groupby('src_ip')['dest_ip']</a:t>
            </a:r>
          </a:p>
          <a:p>
            <a:r>
              <a:rPr sz="1400">
                <a:latin typeface="Calibri"/>
              </a:rPr>
              <a:t>  .transform('nunique')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Ratio:</a:t>
            </a:r>
          </a:p>
          <a:p>
            <a:r>
              <a:rPr sz="1400">
                <a:latin typeface="Calibri"/>
              </a:rPr>
              <a:t>  df['bytes/s'] = bytes / duration</a:t>
            </a:r>
          </a:p>
          <a:p>
            <a:r>
              <a:rPr sz="1400">
                <a:latin typeface="Calibri"/>
              </a:rPr>
              <a:t>  df['upload_ratio'] = up / total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Categorical:</a:t>
            </a:r>
          </a:p>
          <a:p>
            <a:r>
              <a:rPr sz="1400">
                <a:latin typeface="Calibri"/>
              </a:rPr>
              <a:t>  pd.get_dummies(df['protocol'])</a:t>
            </a:r>
          </a:p>
          <a:p>
            <a:r>
              <a:rPr sz="1400">
                <a:latin typeface="Calibri"/>
              </a:rPr>
              <a:t>  or LabelEncoder()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Feature</a:t>
            </a:r>
          </a:p>
          <a:p>
            <a:r>
              <a:rPr b="1">
                <a:latin typeface="Calibri"/>
              </a:rPr>
              <a:t>Engineering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Five Steps from Raw Logs to Model Input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0"/>
            <a:ext cx="11795760" cy="30448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Scaling - Why and How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Many algorithms are sensitive to feature scale:</a:t>
            </a:r>
          </a:p>
          <a:p>
            <a:r>
              <a:rPr sz="1500">
                <a:latin typeface="Calibri"/>
              </a:rPr>
              <a:t>  bytes_sent ranges 0 - 1,000,000</a:t>
            </a:r>
          </a:p>
          <a:p>
            <a:r>
              <a:rPr sz="1500">
                <a:latin typeface="Calibri"/>
              </a:rPr>
              <a:t>  duration ranges 0 - 300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StandardScaler: mean=0, std=1 (most common)</a:t>
            </a:r>
          </a:p>
          <a:p>
            <a:r>
              <a:rPr sz="1500">
                <a:latin typeface="Calibri"/>
              </a:rPr>
              <a:t>MinMaxScaler: range [0, 1]</a:t>
            </a:r>
          </a:p>
          <a:p>
            <a:r>
              <a:rPr sz="1500">
                <a:latin typeface="Calibri"/>
              </a:rPr>
              <a:t/>
            </a:r>
          </a:p>
          <a:p>
            <a:r>
              <a:rPr sz="1500">
                <a:latin typeface="Calibri"/>
              </a:rPr>
              <a:t>Critical rule: fit on training data only</a:t>
            </a:r>
          </a:p>
          <a:p>
            <a:r>
              <a:rPr sz="1500">
                <a:latin typeface="Calibri"/>
              </a:rPr>
              <a:t>  scaler.fit_transform(X_train)</a:t>
            </a:r>
          </a:p>
          <a:p>
            <a:r>
              <a:rPr sz="1500">
                <a:latin typeface="Calibri"/>
              </a:rPr>
              <a:t>  scaler.transform(X_test)   # never fit on test!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Feature Selection</a:t>
            </a:r>
          </a:p>
          <a:p>
            <a:r>
              <a:rPr b="1">
                <a:latin typeface="Calibri"/>
              </a:rPr>
              <a:t>and Validation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Correlation Matrix - Find Redundant Features</a:t>
            </a:r>
          </a:p>
        </p:txBody>
      </p:sp>
      <p:pic>
        <p:nvPicPr>
          <p:cNvPr id="3" name="Picture 2" descr="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097280"/>
            <a:ext cx="7955279" cy="67899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Random feature addition</a:t>
            </a:r>
          </a:p>
          <a:p>
            <a:r>
              <a:rPr sz="1400">
                <a:latin typeface="Calibri"/>
              </a:rPr>
              <a:t>hurts performance.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More features is not</a:t>
            </a:r>
          </a:p>
          <a:p>
            <a:r>
              <a:rPr sz="1400">
                <a:latin typeface="Calibri"/>
              </a:rPr>
              <a:t>always better -</a:t>
            </a:r>
          </a:p>
          <a:p>
            <a:r>
              <a:rPr sz="1400">
                <a:latin typeface="Calibri"/>
              </a:rPr>
              <a:t>this is the curse</a:t>
            </a:r>
          </a:p>
          <a:p>
            <a:r>
              <a:rPr sz="1400">
                <a:latin typeface="Calibri"/>
              </a:rPr>
              <a:t>of dimensionality.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Golden Rule of Feature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Every feature is a hypothesis:</a:t>
            </a:r>
          </a:p>
          <a:p>
            <a:r>
              <a:rPr sz="1400">
                <a:latin typeface="Calibri"/>
              </a:rPr>
              <a:t>  'This signal distinguishes attack</a:t>
            </a:r>
          </a:p>
          <a:p>
            <a:r>
              <a:rPr sz="1400">
                <a:latin typeface="Calibri"/>
              </a:rPr>
              <a:t>   from normal traffic'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Remove features that:</a:t>
            </a:r>
          </a:p>
          <a:p>
            <a:r>
              <a:rPr sz="1400">
                <a:latin typeface="Calibri"/>
              </a:rPr>
              <a:t>  Are highly correlated (redundant)</a:t>
            </a:r>
          </a:p>
          <a:p>
            <a:r>
              <a:rPr sz="1400">
                <a:latin typeface="Calibri"/>
              </a:rPr>
              <a:t>  Have near-zero variance</a:t>
            </a:r>
          </a:p>
          <a:p>
            <a:r>
              <a:rPr sz="1400">
                <a:latin typeface="Calibri"/>
              </a:rPr>
              <a:t>  Don't correlate with the label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Use tree-based feature importance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Impact and</a:t>
            </a:r>
          </a:p>
          <a:p>
            <a:r>
              <a:rPr b="1">
                <a:latin typeface="Calibri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Feature Engineering Drives Model Performance</a:t>
            </a:r>
          </a:p>
        </p:txBody>
      </p:sp>
      <p:pic>
        <p:nvPicPr>
          <p:cNvPr id="3" name="Picture 2" descr="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32720" cy="456113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Workshop: 4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Exercise 1:  Why raw logs fail - see sklearn reject string data</a:t>
            </a:r>
          </a:p>
          <a:p>
            <a:r>
              <a:rPr sz="1600">
                <a:latin typeface="Calibri"/>
              </a:rPr>
              <a:t>Exercise 2:  Numeric extraction - bytes/s, packet rate, port risk</a:t>
            </a:r>
          </a:p>
          <a:p>
            <a:r>
              <a:rPr sz="1600">
                <a:latin typeface="Calibri"/>
              </a:rPr>
              <a:t>Exercise 3:  Categorical encoding - one-hot, LabelEncoder, dummy trap</a:t>
            </a:r>
          </a:p>
          <a:p>
            <a:r>
              <a:rPr sz="1600">
                <a:latin typeface="Calibri"/>
              </a:rPr>
              <a:t>Exercise 4:  Scaling and validation - StandardScaler, fit on train only</a:t>
            </a:r>
          </a:p>
          <a:p>
            <a:r>
              <a:rPr sz="1600">
                <a:latin typeface="Calibri"/>
              </a:rPr>
              <a:t/>
            </a:r>
          </a:p>
          <a:p>
            <a:r>
              <a:rPr sz="1600">
                <a:latin typeface="Calibri"/>
              </a:rPr>
              <a:t>Each exercise: lecture.md (concept) + handson.md (build it yourself)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Raw logs are unusable - sklearn needs a numerical matrix</a:t>
            </a:r>
          </a:p>
          <a:p>
            <a:r>
              <a:rPr sz="1500">
                <a:latin typeface="Calibri"/>
              </a:rPr>
              <a:t>Five feature types: time, aggregation, ratio, categorical, statistical</a:t>
            </a:r>
          </a:p>
          <a:p>
            <a:r>
              <a:rPr sz="1500">
                <a:latin typeface="Calibri"/>
              </a:rPr>
              <a:t>Every feature is a hypothesis about what makes attacks different</a:t>
            </a:r>
          </a:p>
          <a:p>
            <a:r>
              <a:rPr sz="1500">
                <a:latin typeface="Calibri"/>
              </a:rPr>
              <a:t>Always scale features - fit on training data only</a:t>
            </a:r>
          </a:p>
          <a:p>
            <a:r>
              <a:rPr sz="1500">
                <a:latin typeface="Calibri"/>
              </a:rPr>
              <a:t>Remove redundant features (correlation, variance, importance)</a:t>
            </a:r>
          </a:p>
          <a:p>
            <a:r>
              <a:rPr sz="1500">
                <a:latin typeface="Calibri"/>
              </a:rPr>
              <a:t>Next: Random Forests - feed engineered features into a powerful ensemble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Key</a:t>
            </a:r>
          </a:p>
          <a:p>
            <a:r>
              <a:rPr b="1">
                <a:latin typeface="Calibri"/>
              </a:rPr>
              <a:t>Takeaways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Next:  Lesson 2.2 - Random Forests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Feature 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