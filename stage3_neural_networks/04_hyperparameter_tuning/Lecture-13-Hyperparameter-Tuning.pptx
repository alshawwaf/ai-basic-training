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3.4  |  Stage 3: Neural Networks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The Knobs You Turn  -  Systematic Optimisation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/>
              <a:t>Parameters vs hyperparameters - what the model learns vs what you set</a:t>
            </a:r>
          </a:p>
          <a:p>
            <a:r>
              <a:rPr sz="1600"/>
              <a:t>The five key hyperparameters</a:t>
            </a:r>
          </a:p>
          <a:p>
            <a:r>
              <a:rPr sz="1600"/>
              <a:t>Learning rate sensitivity - the most impactful setting</a:t>
            </a:r>
          </a:p>
          <a:p>
            <a:r>
              <a:rPr sz="1600"/>
              <a:t>Search strategies: manual, grid, random</a:t>
            </a:r>
          </a:p>
          <a:p>
            <a:r>
              <a:rPr sz="1600"/>
              <a:t>Practical tuning workflow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Parameters vs</a:t>
            </a:r>
          </a:p>
          <a:p>
            <a:r>
              <a:t>Hyperparameters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Model Learns vs What You Choose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/>
              <a:t>Parameters (learned)</a:t>
            </a:r>
          </a:p>
          <a:p>
            <a:r>
              <a:rPr sz="1400"/>
              <a:t/>
            </a:r>
          </a:p>
          <a:p>
            <a:r>
              <a:rPr sz="1400"/>
              <a:t>Weights and biases</a:t>
            </a:r>
          </a:p>
          <a:p>
            <a:r>
              <a:rPr sz="1400"/>
              <a:t>Adjusted during training</a:t>
            </a:r>
          </a:p>
          <a:p>
            <a:r>
              <a:rPr sz="1400"/>
              <a:t>  via backpropagation</a:t>
            </a:r>
          </a:p>
          <a:p>
            <a:r>
              <a:rPr sz="1400"/>
              <a:t/>
            </a:r>
          </a:p>
          <a:p>
            <a:r>
              <a:rPr sz="1400"/>
              <a:t>You never set these</a:t>
            </a:r>
          </a:p>
          <a:p>
            <a:r>
              <a:rPr sz="1400"/>
              <a:t>The model finds them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/>
              <a:t>Hyperparameters (you set)</a:t>
            </a:r>
          </a:p>
          <a:p>
            <a:r>
              <a:rPr sz="1400"/>
              <a:t/>
            </a:r>
          </a:p>
          <a:p>
            <a:r>
              <a:rPr sz="1400"/>
              <a:t>Learning rate, batch size</a:t>
            </a:r>
          </a:p>
          <a:p>
            <a:r>
              <a:rPr sz="1400"/>
              <a:t>Number of layers/neurons</a:t>
            </a:r>
          </a:p>
          <a:p>
            <a:r>
              <a:rPr sz="1400"/>
              <a:t>Dropout rate, epochs</a:t>
            </a:r>
          </a:p>
          <a:p>
            <a:r>
              <a:rPr sz="1400"/>
              <a:t/>
            </a:r>
          </a:p>
          <a:p>
            <a:r>
              <a:rPr sz="1400"/>
              <a:t>You choose before training</a:t>
            </a:r>
          </a:p>
          <a:p>
            <a:r>
              <a:rPr sz="1400"/>
              <a:t>Getting them right: 75% -&gt; 95%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Five Key</a:t>
            </a:r>
          </a:p>
          <a:p>
            <a:r>
              <a:t>Hyperparameters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Ranked by Impact on Model Performance</a:t>
            </a:r>
          </a:p>
        </p:txBody>
      </p:sp>
      <p:pic>
        <p:nvPicPr>
          <p:cNvPr id="3" name="Picture 2" descr="hyper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4235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Rate</a:t>
            </a:r>
          </a:p>
          <a:p>
            <a:r>
              <a:t>Sensitivity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 High, Just Right, Too Low</a:t>
            </a:r>
          </a:p>
        </p:txBody>
      </p:sp>
      <p:pic>
        <p:nvPicPr>
          <p:cNvPr id="3" name="Picture 2" descr="lr_s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11612880" cy="30051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Learning rate is the single</a:t>
            </a:r>
          </a:p>
          <a:p>
            <a:r>
              <a:rPr sz="1400"/>
              <a:t>most impactful hyperparameter.</a:t>
            </a:r>
          </a:p>
          <a:p>
            <a:r>
              <a:rPr sz="1400"/>
              <a:t/>
            </a:r>
          </a:p>
          <a:p>
            <a:r>
              <a:rPr sz="1400"/>
              <a:t>Always tune it first.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the Right Learning Rate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Start with Adam default: 0.001</a:t>
            </a:r>
          </a:p>
          <a:p>
            <a:r>
              <a:rPr sz="1400"/>
              <a:t/>
            </a:r>
          </a:p>
          <a:p>
            <a:r>
              <a:rPr sz="1400"/>
              <a:t>Try three values: 0.01, 0.001, 0.0001</a:t>
            </a:r>
          </a:p>
          <a:p>
            <a:r>
              <a:rPr sz="1400"/>
              <a:t>  Plot loss curves for each</a:t>
            </a:r>
          </a:p>
          <a:p>
            <a:r>
              <a:rPr sz="1400"/>
              <a:t/>
            </a:r>
          </a:p>
          <a:p>
            <a:r>
              <a:rPr sz="1400"/>
              <a:t>Signs of trouble:</a:t>
            </a:r>
          </a:p>
          <a:p>
            <a:r>
              <a:rPr sz="1400"/>
              <a:t>  Oscillating loss = lr too high</a:t>
            </a:r>
          </a:p>
          <a:p>
            <a:r>
              <a:rPr sz="1400"/>
              <a:t>  Barely moving loss = lr too low</a:t>
            </a:r>
          </a:p>
          <a:p>
            <a:r>
              <a:rPr sz="1400"/>
              <a:t>  Smooth descent = just right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Search</a:t>
            </a:r>
          </a:p>
          <a:p>
            <a:r>
              <a:t>Strategies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Approaches to Hyperparameter Search</a:t>
            </a:r>
          </a:p>
        </p:txBody>
      </p:sp>
      <p:pic>
        <p:nvPicPr>
          <p:cNvPr id="3" name="Picture 2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1491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  <a:p>
            <a: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Exercise 1:  Parameters vs hyperparameters - inspect weights before/after</a:t>
            </a:r>
          </a:p>
          <a:p>
            <a:r>
              <a:rPr sz="1600"/>
              <a:t>Exercise 2:  Learning rate sensitivity - compare 0.001 vs 0.01 vs 0.1</a:t>
            </a:r>
          </a:p>
          <a:p>
            <a:r>
              <a:rPr sz="1600"/>
              <a:t>Exercise 3:  Batch size effects - 32 vs 256 vs 1024</a:t>
            </a:r>
          </a:p>
          <a:p>
            <a:r>
              <a:rPr sz="1600"/>
              <a:t>Exercise 4:  Architecture search - grid over units x layers, store results</a:t>
            </a:r>
          </a:p>
          <a:p>
            <a:r>
              <a:rPr sz="1600"/>
              <a:t/>
            </a:r>
          </a:p>
          <a:p>
            <a:r>
              <a:rPr sz="1600"/>
              <a:t>Exercise 4 trains up to 9 models - may take 2-5 minutes total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Parameters are learned; hyperparameters are set by you before training</a:t>
            </a:r>
          </a:p>
          <a:p>
            <a:r>
              <a:rPr sz="1500"/>
              <a:t>Learning rate is the most impactful - always tune it first (0.01/0.001/0.0001)</a:t>
            </a:r>
          </a:p>
          <a:p>
            <a:r>
              <a:rPr sz="1500"/>
              <a:t>Start simple (small network) and add complexity only if underfitting</a:t>
            </a:r>
          </a:p>
          <a:p>
            <a:r>
              <a:rPr sz="1500"/>
              <a:t>Use EarlyStopping instead of manually choosing epochs</a:t>
            </a:r>
          </a:p>
          <a:p>
            <a:r>
              <a:rPr sz="1500"/>
              <a:t>Random search often beats grid search for 4+ hyperparameters</a:t>
            </a:r>
          </a:p>
          <a:p>
            <a:r>
              <a:rPr sz="1500"/>
              <a:t>Next: Stage 4 - Generative AI (LLMs, APIs, and RAG)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</a:t>
            </a:r>
          </a:p>
          <a:p>
            <a:r>
              <a:t>Takeaways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Next:  Stage 4 - Generative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