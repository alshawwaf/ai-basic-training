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Lesson 4.3  |  Stage 4: Generative AI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LLM API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Building a Threat Intelligence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From pipelines to conversational AI</a:t>
            </a:r>
          </a:p>
          <a:p>
            <a:r>
              <a:rPr sz="1600">
                <a:latin typeface="Calibri"/>
              </a:rPr>
              <a:t>The system prompt - your most powerful tool</a:t>
            </a:r>
          </a:p>
          <a:p>
            <a:r>
              <a:rPr sz="1600">
                <a:latin typeface="Calibri"/>
              </a:rPr>
              <a:t>Multi-turn conversations</a:t>
            </a:r>
          </a:p>
          <a:p>
            <a:r>
              <a:rPr sz="1600">
                <a:latin typeface="Calibri"/>
              </a:rPr>
              <a:t>Structured JSON output for pipeline integration</a:t>
            </a:r>
          </a:p>
          <a:p>
            <a:r>
              <a:rPr sz="1600">
                <a:latin typeface="Calibri"/>
              </a:rPr>
              <a:t>Provider options: Claude, OpenAI, Gemini, Ollama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API</a:t>
            </a:r>
          </a:p>
          <a:p>
            <a:r>
              <a:rPr b="1">
                <a:latin typeface="Calibri"/>
              </a:rPr>
              <a:t>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System Prompt + User Message = Structured Response</a:t>
            </a:r>
          </a:p>
        </p:txBody>
      </p:sp>
      <p:pic>
        <p:nvPicPr>
          <p:cNvPr id="3" name="Picture 2" descr="ap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11795760" cy="3505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Code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from llm_client import get_client</a:t>
            </a:r>
          </a:p>
          <a:p>
            <a:r>
              <a:rPr sz="1500">
                <a:latin typeface="Calibri"/>
              </a:rPr>
              <a:t>provider, client = get_client()   # auto-detects your key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response = client.chat(</a:t>
            </a:r>
          </a:p>
          <a:p>
            <a:r>
              <a:rPr sz="1500">
                <a:latin typeface="Calibri"/>
              </a:rPr>
              <a:t>    system='You are a threat intel analyst. Be concise.',</a:t>
            </a:r>
          </a:p>
          <a:p>
            <a:r>
              <a:rPr sz="1500">
                <a:latin typeface="Calibri"/>
              </a:rPr>
              <a:t>    messages=[{"role": "user",</a:t>
            </a:r>
          </a:p>
          <a:p>
            <a:r>
              <a:rPr sz="1500">
                <a:latin typeface="Calibri"/>
              </a:rPr>
              <a:t>        "content": "Analyse this log entry: ..."}]</a:t>
            </a:r>
          </a:p>
          <a:p>
            <a:r>
              <a:rPr sz="1500">
                <a:latin typeface="Calibri"/>
              </a:rPr>
              <a:t>)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Same code works with any provider (Claude, OpenAI, Gemini, Ollama)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System</a:t>
            </a:r>
          </a:p>
          <a:p>
            <a:r>
              <a:rPr b="1">
                <a:latin typeface="Calibri"/>
              </a:rPr>
              <a:t>Prompt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A well-crafted system prompt</a:t>
            </a:r>
          </a:p>
          <a:p>
            <a:r>
              <a:rPr sz="1400">
                <a:latin typeface="Calibri"/>
              </a:rPr>
              <a:t>turns a general-purpose LLM</a:t>
            </a:r>
          </a:p>
          <a:p>
            <a:r>
              <a:rPr sz="1400">
                <a:latin typeface="Calibri"/>
              </a:rPr>
              <a:t>into a specialist.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This is prompt engineering.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Your Most Powerful Tool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The system prompt defines behaviour: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  Role: 'You are a cybersecurity analyst'</a:t>
            </a:r>
          </a:p>
          <a:p>
            <a:r>
              <a:rPr sz="1400">
                <a:latin typeface="Calibri"/>
              </a:rPr>
              <a:t>  Task: 'Identify MITRE ATT&amp;CK tactic'</a:t>
            </a:r>
          </a:p>
          <a:p>
            <a:r>
              <a:rPr sz="1400">
                <a:latin typeface="Calibri"/>
              </a:rPr>
              <a:t>  Format: 'Use bullet points'</a:t>
            </a:r>
          </a:p>
          <a:p>
            <a:r>
              <a:rPr sz="1400">
                <a:latin typeface="Calibri"/>
              </a:rPr>
              <a:t>  Constraints: 'Be concise, technical'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Quality of system prompt =</a:t>
            </a:r>
          </a:p>
          <a:p>
            <a:r>
              <a:rPr sz="1400">
                <a:latin typeface="Calibri"/>
              </a:rPr>
              <a:t>quality of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Conversations</a:t>
            </a:r>
          </a:p>
          <a:p>
            <a:r>
              <a:rPr b="1">
                <a:latin typeface="Calibri"/>
              </a:rPr>
              <a:t>and JSON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Two Key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Multi-turn conversation: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messages = [</a:t>
            </a:r>
          </a:p>
          <a:p>
            <a:r>
              <a:rPr sz="1400">
                <a:latin typeface="Calibri"/>
              </a:rPr>
              <a:t>  {"role": "user",</a:t>
            </a:r>
          </a:p>
          <a:p>
            <a:r>
              <a:rPr sz="1400">
                <a:latin typeface="Calibri"/>
              </a:rPr>
              <a:t>   "content": "What is this?"},</a:t>
            </a:r>
          </a:p>
          <a:p>
            <a:r>
              <a:rPr sz="1400">
                <a:latin typeface="Calibri"/>
              </a:rPr>
              <a:t>  {"role": "assistant",</a:t>
            </a:r>
          </a:p>
          <a:p>
            <a:r>
              <a:rPr sz="1400">
                <a:latin typeface="Calibri"/>
              </a:rPr>
              <a:t>   "content": "This is a..."},</a:t>
            </a:r>
          </a:p>
          <a:p>
            <a:r>
              <a:rPr sz="1400">
                <a:latin typeface="Calibri"/>
              </a:rPr>
              <a:t>  {"role": "user",</a:t>
            </a:r>
          </a:p>
          <a:p>
            <a:r>
              <a:rPr sz="1400">
                <a:latin typeface="Calibri"/>
              </a:rPr>
              <a:t>   "content": "What to do?"}</a:t>
            </a:r>
          </a:p>
          <a:p>
            <a:r>
              <a:rPr sz="1400">
                <a:latin typeface="Calibri"/>
              </a:rPr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Structured JSON output: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system = 'Respond with valid</a:t>
            </a:r>
          </a:p>
          <a:p>
            <a:r>
              <a:rPr sz="1400">
                <a:latin typeface="Calibri"/>
              </a:rPr>
              <a:t>  JSON only. No prose.'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Fields: tactic, severity,</a:t>
            </a:r>
          </a:p>
          <a:p>
            <a:r>
              <a:rPr sz="1400">
                <a:latin typeface="Calibri"/>
              </a:rPr>
              <a:t>  confidence, recommendations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This is how you integrate</a:t>
            </a:r>
          </a:p>
          <a:p>
            <a:r>
              <a:rPr sz="1400">
                <a:latin typeface="Calibri"/>
              </a:rPr>
              <a:t>LLMs into automated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Provider</a:t>
            </a:r>
          </a:p>
          <a:p>
            <a:r>
              <a:rPr b="1">
                <a:latin typeface="Calibri"/>
              </a:rPr>
              <a:t>Options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Four Providers - One Interface</a:t>
            </a:r>
          </a:p>
        </p:txBody>
      </p:sp>
      <p:pic>
        <p:nvPicPr>
          <p:cNvPr id="3" name="Picture 2" descr="prov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149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For security work, local</a:t>
            </a:r>
          </a:p>
          <a:p>
            <a:r>
              <a:rPr sz="1400">
                <a:latin typeface="Calibri"/>
              </a:rPr>
              <a:t>models keep sensitive data</a:t>
            </a:r>
          </a:p>
          <a:p>
            <a:r>
              <a:rPr sz="1400">
                <a:latin typeface="Calibri"/>
              </a:rPr>
              <a:t>on your machine.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Trade-off: less capable</a:t>
            </a:r>
          </a:p>
          <a:p>
            <a:r>
              <a:rPr sz="1400">
                <a:latin typeface="Calibri"/>
              </a:rPr>
              <a:t>than cloud APIs.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Running Locally with Ollama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Sensitive data never leaves your machine</a:t>
            </a:r>
          </a:p>
          <a:p>
            <a:r>
              <a:rPr sz="1400">
                <a:latin typeface="Calibri"/>
              </a:rPr>
              <a:t>  Malware samples, IR reports, CVEs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No API key, no internet after download</a:t>
            </a:r>
          </a:p>
          <a:p>
            <a:r>
              <a:rPr sz="1400">
                <a:latin typeface="Calibri"/>
              </a:rPr>
              <a:t>  Works in air-gapped environments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Setup:</a:t>
            </a:r>
          </a:p>
          <a:p>
            <a:r>
              <a:rPr sz="1400">
                <a:latin typeface="Calibri"/>
              </a:rPr>
              <a:t>  ollama pull huihui_ai/qwen3.5-abliterated:2B</a:t>
            </a:r>
          </a:p>
          <a:p>
            <a:r>
              <a:rPr sz="1400">
                <a:latin typeface="Calibri"/>
              </a:rPr>
              <a:t>  set OLLAMA_MODEL=&lt;model-name&gt;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</a:t>
            </a:r>
          </a:p>
          <a:p>
            <a:r>
              <a:rPr b="1">
                <a:latin typeface="Calibri"/>
              </a:rP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Exercise 1:  First API call - understand request/response structure</a:t>
            </a:r>
          </a:p>
          <a:p>
            <a:r>
              <a:rPr sz="1600">
                <a:latin typeface="Calibri"/>
              </a:rPr>
              <a:t>Exercise 2:  System prompts - security analyst persona, tone control</a:t>
            </a:r>
          </a:p>
          <a:p>
            <a:r>
              <a:rPr sz="1600">
                <a:latin typeface="Calibri"/>
              </a:rPr>
              <a:t>Exercise 3:  Structured output - JSON for pipeline integration</a:t>
            </a:r>
          </a:p>
          <a:p>
            <a:r>
              <a:rPr sz="1600">
                <a:latin typeface="Calibri"/>
              </a:rPr>
              <a:t>Exercise 4:  Multi-turn conversation - maintaining context across turns</a:t>
            </a:r>
          </a:p>
          <a:p>
            <a:r>
              <a:rPr sz="1600">
                <a:latin typeface="Calibri"/>
              </a:rPr>
              <a:t/>
            </a:r>
          </a:p>
          <a:p>
            <a:r>
              <a:rPr sz="1600">
                <a:latin typeface="Calibri"/>
              </a:rPr>
              <a:t>Requires one API key (any provider) or Ollama for local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LLM APIs give you general-purpose AI directed by natural language</a:t>
            </a:r>
          </a:p>
          <a:p>
            <a:r>
              <a:rPr sz="1500">
                <a:latin typeface="Calibri"/>
              </a:rPr>
              <a:t>The system prompt defines behaviour - this IS prompt engineering</a:t>
            </a:r>
          </a:p>
          <a:p>
            <a:r>
              <a:rPr sz="1500">
                <a:latin typeface="Calibri"/>
              </a:rPr>
              <a:t>Multi-turn conversations maintain context via message history</a:t>
            </a:r>
          </a:p>
          <a:p>
            <a:r>
              <a:rPr sz="1500">
                <a:latin typeface="Calibri"/>
              </a:rPr>
              <a:t>Structured JSON output enables automated pipeline integration</a:t>
            </a:r>
          </a:p>
          <a:p>
            <a:r>
              <a:rPr sz="1500">
                <a:latin typeface="Calibri"/>
              </a:rPr>
              <a:t>Ollama runs locally for sensitive security data (no API key needed)</a:t>
            </a:r>
          </a:p>
          <a:p>
            <a:r>
              <a:rPr sz="1500">
                <a:latin typeface="Calibri"/>
              </a:rPr>
              <a:t>Next: RAG - ground the model's answers in your own documents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</a:t>
            </a:r>
          </a:p>
          <a:p>
            <a:r>
              <a:rPr b="1">
                <a:latin typeface="Calibri"/>
              </a:rPr>
              <a:t>Takeaways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Next:  Lesson 4.4 - RAG (Retrieval-Augmented Generation)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LLM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