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4.4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RAG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Retrieval-Augmented Generation  -  Ground Answers in Your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The problem RAG solves - knowledge cutoff and hallucination</a:t>
            </a:r>
          </a:p>
          <a:p>
            <a:r>
              <a:rPr sz="1600">
                <a:latin typeface="Calibri"/>
              </a:rPr>
              <a:t>The three stages: index, query, generate</a:t>
            </a:r>
          </a:p>
          <a:p>
            <a:r>
              <a:rPr sz="1600">
                <a:latin typeface="Calibri"/>
              </a:rPr>
              <a:t>Chunking, embedding, and retrieval</a:t>
            </a:r>
          </a:p>
          <a:p>
            <a:r>
              <a:rPr sz="1600">
                <a:latin typeface="Calibri"/>
              </a:rPr>
              <a:t>Grounding: 'based on the context only'</a:t>
            </a:r>
          </a:p>
          <a:p>
            <a:r>
              <a:rPr sz="1600">
                <a:latin typeface="Calibri"/>
              </a:rPr>
              <a:t>Building a security analyst RAG assistant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Problem</a:t>
            </a:r>
          </a:p>
          <a:p>
            <a:r>
              <a:rPr b="1">
                <a:latin typeface="Calibri"/>
              </a:rPr>
              <a:t>RAG Solves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Without RAG vs With RAG</a:t>
            </a:r>
          </a:p>
        </p:txBody>
      </p:sp>
      <p:pic>
        <p:nvPicPr>
          <p:cNvPr id="3" name="Picture 2" descr="with_with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30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Two Limitations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Knowledge cutoff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The model doesn't know about</a:t>
            </a:r>
          </a:p>
          <a:p>
            <a:r>
              <a:rPr sz="1400">
                <a:latin typeface="Calibri"/>
              </a:rPr>
              <a:t>CVEs published after training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Your internal runbooks,</a:t>
            </a:r>
          </a:p>
          <a:p>
            <a:r>
              <a:rPr sz="1400">
                <a:latin typeface="Calibri"/>
              </a:rPr>
              <a:t>policies, and past incidents</a:t>
            </a:r>
          </a:p>
          <a:p>
            <a:r>
              <a:rPr sz="1400">
                <a:latin typeface="Calibri"/>
              </a:rPr>
              <a:t>are unknown to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Hallucination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Without source documents,</a:t>
            </a:r>
          </a:p>
          <a:p>
            <a:r>
              <a:rPr sz="1400">
                <a:latin typeface="Calibri"/>
              </a:rPr>
              <a:t>the model may fabricate</a:t>
            </a:r>
          </a:p>
          <a:p>
            <a:r>
              <a:rPr sz="1400">
                <a:latin typeface="Calibri"/>
              </a:rPr>
              <a:t>plausible-sounding answers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RAG grounds answers in</a:t>
            </a:r>
          </a:p>
          <a:p>
            <a:r>
              <a:rPr sz="1400">
                <a:latin typeface="Calibri"/>
              </a:rPr>
              <a:t>YOUR documents - verifiable</a:t>
            </a:r>
          </a:p>
          <a:p>
            <a:r>
              <a:rPr sz="1400">
                <a:latin typeface="Calibri"/>
              </a:rPr>
              <a:t>and attributable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RAG</a:t>
            </a:r>
          </a:p>
          <a:p>
            <a:r>
              <a:rPr b="1">
                <a:latin typeface="Calibri"/>
              </a:rPr>
              <a:t>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Three Stages: Index, Query, Generate</a:t>
            </a:r>
          </a:p>
        </p:txBody>
      </p:sp>
      <p:pic>
        <p:nvPicPr>
          <p:cNvPr id="3" name="Picture 2" descr="r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11795760" cy="4887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Chunking and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Chunking: split documents into ~500-word pieces</a:t>
            </a:r>
          </a:p>
          <a:p>
            <a:r>
              <a:rPr sz="1500">
                <a:latin typeface="Calibri"/>
              </a:rPr>
              <a:t>  Overlap prevents boundary cuts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Embedding: convert each chunk to a vector</a:t>
            </a:r>
          </a:p>
          <a:p>
            <a:r>
              <a:rPr sz="1500">
                <a:latin typeface="Calibri"/>
              </a:rPr>
              <a:t>  model = SentenceTransformer('all-MiniLM-L6-v2')</a:t>
            </a:r>
          </a:p>
          <a:p>
            <a:r>
              <a:rPr sz="1500">
                <a:latin typeface="Calibri"/>
              </a:rPr>
              <a:t>  embeddings = model.encode(chunks)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Similar topics = similar vectors</a:t>
            </a:r>
          </a:p>
          <a:p>
            <a:r>
              <a:rPr sz="1500">
                <a:latin typeface="Calibri"/>
              </a:rPr>
              <a:t>This is what makes retrieval possible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Retrieval and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Retrieval: encode query, find closest chunks</a:t>
            </a:r>
          </a:p>
          <a:p>
            <a:r>
              <a:rPr sz="1500">
                <a:latin typeface="Calibri"/>
              </a:rPr>
              <a:t>  q_vec = model.encode([question])</a:t>
            </a:r>
          </a:p>
          <a:p>
            <a:r>
              <a:rPr sz="1500">
                <a:latin typeface="Calibri"/>
              </a:rPr>
              <a:t>  similarities = cosine_similarity(q_vec, embeddings)</a:t>
            </a:r>
          </a:p>
          <a:p>
            <a:r>
              <a:rPr sz="1500">
                <a:latin typeface="Calibri"/>
              </a:rPr>
              <a:t>  top_chunks = get_top_k(similarities, k=3)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Generation: inject chunks into prompt</a:t>
            </a:r>
          </a:p>
          <a:p>
            <a:r>
              <a:rPr sz="1500">
                <a:latin typeface="Calibri"/>
              </a:rPr>
              <a:t>  'Based on the following context ONLY,</a:t>
            </a:r>
          </a:p>
          <a:p>
            <a:r>
              <a:rPr sz="1500">
                <a:latin typeface="Calibri"/>
              </a:rPr>
              <a:t>   answer the question. If not in context, say so.'</a:t>
            </a:r>
          </a:p>
          <a:p>
            <a:r>
              <a:rPr sz="1500">
                <a:latin typeface="Calibri"/>
              </a:rPr>
              <a:t/>
            </a:r>
          </a:p>
          <a:p>
            <a:r>
              <a:rPr sz="1500">
                <a:latin typeface="Calibri"/>
              </a:rPr>
              <a:t>The 'ONLY' instruction prevents hallucination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Why Grounding</a:t>
            </a:r>
          </a:p>
          <a:p>
            <a:r>
              <a:rPr b="1">
                <a:latin typeface="Calibri"/>
              </a:rPr>
              <a:t>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In security, every answer</a:t>
            </a:r>
          </a:p>
          <a:p>
            <a:r>
              <a:rPr sz="1400">
                <a:latin typeface="Calibri"/>
              </a:rPr>
              <a:t>must be verifiable.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Grounding ensures you know</a:t>
            </a:r>
          </a:p>
          <a:p>
            <a:r>
              <a:rPr sz="1400">
                <a:latin typeface="Calibri"/>
              </a:rPr>
              <a:t>exactly where the</a:t>
            </a:r>
          </a:p>
          <a:p>
            <a:r>
              <a:rPr sz="1400">
                <a:latin typeface="Calibri"/>
              </a:rPr>
              <a:t>information came from.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'Based on the Context Only'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Without this instruction:</a:t>
            </a:r>
          </a:p>
          <a:p>
            <a:r>
              <a:rPr sz="1400">
                <a:latin typeface="Calibri"/>
              </a:rPr>
              <a:t>  Model blends pre-training + documents</a:t>
            </a:r>
          </a:p>
          <a:p>
            <a:r>
              <a:rPr sz="1400">
                <a:latin typeface="Calibri"/>
              </a:rPr>
              <a:t>  Can't verify where answer came from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With grounding instruction:</a:t>
            </a:r>
          </a:p>
          <a:p>
            <a:r>
              <a:rPr sz="1400">
                <a:latin typeface="Calibri"/>
              </a:rPr>
              <a:t>  Attributable answers (cite the source)</a:t>
            </a:r>
          </a:p>
          <a:p>
            <a:r>
              <a:rPr sz="1400">
                <a:latin typeface="Calibri"/>
              </a:rPr>
              <a:t>  Accurate recall of your policies</a:t>
            </a:r>
          </a:p>
          <a:p>
            <a:r>
              <a:rPr sz="1400">
                <a:latin typeface="Calibri"/>
              </a:rPr>
              <a:t>  Reduced hallucination</a:t>
            </a:r>
          </a:p>
          <a:p>
            <a:r>
              <a:rPr sz="1400">
                <a:latin typeface="Calibri"/>
              </a:rPr>
              <a:t>  Model says 'not in context' when unsure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3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Chunking strategies - fixed-size, overlap, by sentence</a:t>
            </a:r>
          </a:p>
          <a:p>
            <a:r>
              <a:rPr sz="1600">
                <a:latin typeface="Calibri"/>
              </a:rPr>
              <a:t>Exercise 2:  Retrieval - encode chunks, retrieve top-k by cosine similarity</a:t>
            </a:r>
          </a:p>
          <a:p>
            <a:r>
              <a:rPr sz="1600">
                <a:latin typeface="Calibri"/>
              </a:rPr>
              <a:t>Exercise 3:  Full RAG pipeline - retrieve + augment prompt + generate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Exercises 1-2 require no API key (local models only)</a:t>
            </a:r>
          </a:p>
          <a:p>
            <a:r>
              <a:rPr sz="1600">
                <a:latin typeface="Calibri"/>
              </a:rPr>
              <a:t>Exercise 3 requires one API key for the generation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RAG solves two LLM limitations: knowledge cutoff and hallucination</a:t>
            </a:r>
          </a:p>
          <a:p>
            <a:r>
              <a:rPr sz="1500">
                <a:latin typeface="Calibri"/>
              </a:rPr>
              <a:t>Three stages: index (chunk+embed), query (retrieve), generate (LLM+context)</a:t>
            </a:r>
          </a:p>
          <a:p>
            <a:r>
              <a:rPr sz="1500">
                <a:latin typeface="Calibri"/>
              </a:rPr>
              <a:t>Chunking splits documents; embedding converts chunks to searchable vectors</a:t>
            </a:r>
          </a:p>
          <a:p>
            <a:r>
              <a:rPr sz="1500">
                <a:latin typeface="Calibri"/>
              </a:rPr>
              <a:t>Retrieval finds the most relevant chunks via cosine similarity</a:t>
            </a:r>
          </a:p>
          <a:p>
            <a:r>
              <a:rPr sz="1500">
                <a:latin typeface="Calibri"/>
              </a:rPr>
              <a:t>'Based on context only' grounds answers and prevents hallucination</a:t>
            </a:r>
          </a:p>
          <a:p>
            <a:r>
              <a:rPr sz="1500">
                <a:latin typeface="Calibri"/>
              </a:rPr>
              <a:t>Congratulations - you have completed all 4 stages of AI Basic Training!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  -  Complete!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