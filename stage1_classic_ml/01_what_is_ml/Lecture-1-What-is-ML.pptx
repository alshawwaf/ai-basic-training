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1.1 — Stage 1: Classic Machine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Security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Traditional programming vs machine learning</a:t>
            </a:r>
          </a:p>
          <a:p>
            <a:pPr/>
            <a:r>
              <a:t>The three types of ML</a:t>
            </a:r>
          </a:p>
          <a:p>
            <a:pPr/>
            <a:r>
              <a:t>How a model actually learns — the training loop</a:t>
            </a:r>
          </a:p>
          <a:p>
            <a:pPr/>
            <a:r>
              <a:t>The ML workflow and train/test split</a:t>
            </a:r>
          </a:p>
          <a:p>
            <a:pPr/>
            <a:r>
              <a:t>Exploratory Data Analysis (EDA)</a:t>
            </a:r>
          </a:p>
          <a:p>
            <a:pPr/>
            <a:r>
              <a:t>The dataset: handwritten digits</a:t>
            </a:r>
          </a:p>
          <a:p>
            <a:pPr/>
            <a:r>
              <a:t>Features vs labels — the fundamental split</a:t>
            </a:r>
          </a:p>
          <a:p>
            <a:pPr/>
            <a:r>
              <a:t>Python tools and key vocabulary</a:t>
            </a:r>
          </a:p>
          <a:p>
            <a:pPr/>
            <a:r>
              <a:t>Workshop: 5 hands-on exercises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Traditional Programming</a:t>
            </a:r>
          </a:p>
          <a:p>
            <a:r>
              <a:t>vs 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Approaches to Solving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Traditional Programming</a:t>
            </a:r>
          </a:p>
          <a:p>
            <a:pPr/>
          </a:p>
          <a:p>
            <a:pPr/>
            <a:r>
              <a:t>You write the rules:</a:t>
            </a:r>
          </a:p>
          <a:p>
            <a:pPr lvl="1"/>
            <a:r>
              <a:t>if "free money" in email → spam</a:t>
            </a:r>
          </a:p>
          <a:p>
            <a:pPr lvl="1"/>
            <a:r>
              <a:t>if sender not in contacts → spam</a:t>
            </a:r>
          </a:p>
          <a:p>
            <a:pPr/>
          </a:p>
          <a:p>
            <a:pPr/>
            <a:r>
              <a:t>Problem:</a:t>
            </a:r>
          </a:p>
          <a:p>
            <a:pPr lvl="1"/>
            <a:r>
              <a:t>Attackers learn your rules</a:t>
            </a:r>
          </a:p>
          <a:p>
            <a:pPr lvl="1"/>
            <a:r>
              <a:t>Change one word → bypass the filter</a:t>
            </a:r>
          </a:p>
          <a:p>
            <a:pPr lvl="1"/>
            <a:r>
              <a:t>Rules don't scale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pPr/>
            <a:r>
              <a:t>Machine Learning</a:t>
            </a:r>
          </a:p>
          <a:p>
            <a:pPr/>
          </a:p>
          <a:p>
            <a:pPr/>
            <a:r>
              <a:t>You provide labelled examples:</a:t>
            </a:r>
          </a:p>
          <a:p>
            <a:pPr lvl="1"/>
            <a:r>
              <a:t>10,000 emails tagged spam / legit</a:t>
            </a:r>
          </a:p>
          <a:p>
            <a:pPr lvl="1"/>
            <a:r>
              <a:t>The model finds the patterns</a:t>
            </a:r>
          </a:p>
          <a:p>
            <a:pPr/>
          </a:p>
          <a:p>
            <a:pPr/>
            <a:r>
              <a:t>Advantage:</a:t>
            </a:r>
          </a:p>
          <a:p>
            <a:pPr lvl="1"/>
            <a:r>
              <a:t>Catches subtle signal combinations</a:t>
            </a:r>
          </a:p>
          <a:p>
            <a:pPr lvl="1"/>
            <a:r>
              <a:t>Adapts as new data arrives</a:t>
            </a:r>
          </a:p>
          <a:p>
            <a:pPr lvl="1"/>
            <a:r>
              <a:t>Scales to millions of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— The core insight behind security 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Attackers constantly change tactics,</a:t>
            </a:r>
          </a:p>
          <a:p>
            <a:r>
              <a:t>but their statistical patterns persist</a:t>
            </a:r>
          </a:p>
          <a:p>
            <a:r>
              <a:t>across campaigns.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for Security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t>Already in production security tooling:</a:t>
            </a:r>
          </a:p>
          <a:p>
            <a:pPr lvl="1"/>
            <a:r>
              <a:t>Email filters (Gmail: 99.9% spam blocked)</a:t>
            </a:r>
          </a:p>
          <a:p>
            <a:pPr lvl="1"/>
            <a:r>
              <a:t>Endpoint detection (behavioural analysis)</a:t>
            </a:r>
          </a:p>
          <a:p>
            <a:pPr lvl="1"/>
            <a:r>
              <a:t>SIEM (anomaly scoring across logs)</a:t>
            </a:r>
          </a:p>
          <a:p>
            <a:pPr lvl="1"/>
            <a:r>
              <a:t>Network IDS (traffic classification)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Three Types of</a:t>
            </a:r>
          </a:p>
          <a:p>
            <a:r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Supervised, Unsupervised, and Reinforcement Learning</a:t>
            </a:r>
          </a:p>
        </p:txBody>
      </p:sp>
      <p:pic>
        <p:nvPicPr>
          <p:cNvPr id="3" name="Picture 2" descr="thre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972800" cy="40571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How a Model</a:t>
            </a:r>
          </a:p>
          <a:p>
            <a:r>
              <a:t>Actually Learns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Training Loop</a:t>
            </a:r>
          </a:p>
        </p:txBody>
      </p:sp>
      <p:pic>
        <p:nvPicPr>
          <p:cNvPr id="3" name="Picture 2" descr="learning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097280"/>
            <a:ext cx="6858000" cy="76114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Watching the Loss Drop Over Training</a:t>
            </a:r>
          </a:p>
        </p:txBody>
      </p:sp>
      <p:pic>
        <p:nvPicPr>
          <p:cNvPr id="3" name="Picture 2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229600" cy="40654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The patterns are combinations of</a:t>
            </a:r>
          </a:p>
          <a:p>
            <a:r>
              <a:t>dozens of subtle signals that</a:t>
            </a:r>
          </a:p>
          <a:p>
            <a:r>
              <a:t>no human would write as rules.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Weights and Loss — What the Model Learns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t>Weights — numbers inside the model</a:t>
            </a:r>
          </a:p>
          <a:p>
            <a:pPr lvl="1"/>
            <a:r>
              <a:t>Adjusted during training to minimise loss</a:t>
            </a:r>
          </a:p>
          <a:p>
            <a:pPr/>
            <a:r>
              <a:t>Loss — how wrong the predictions are</a:t>
            </a:r>
          </a:p>
          <a:p>
            <a:pPr lvl="1"/>
            <a:r>
              <a:t>Training = finding weights that minimise loss</a:t>
            </a:r>
          </a:p>
          <a:p>
            <a:pPr/>
            <a:r>
              <a:t>You don't write any of this</a:t>
            </a:r>
          </a:p>
          <a:p>
            <a:pPr lvl="1"/>
            <a:r>
              <a:t>The ML library handles it automatically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ML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Project Follows This Loop</a:t>
            </a:r>
          </a:p>
        </p:txBody>
      </p:sp>
      <p:pic>
        <p:nvPicPr>
          <p:cNvPr id="3" name="Picture 2" descr="m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6752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Train / Test Split</a:t>
            </a:r>
          </a:p>
        </p:txBody>
      </p:sp>
      <p:pic>
        <p:nvPicPr>
          <p:cNvPr id="3" name="Picture 2" descr="train_tes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33106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Exploratory Data</a:t>
            </a:r>
          </a:p>
          <a:p>
            <a:r>
              <a:t>Analysis (EDA)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— Examine Your Data Before Training Anything</a:t>
            </a:r>
          </a:p>
        </p:txBody>
      </p:sp>
      <p:pic>
        <p:nvPicPr>
          <p:cNvPr id="3" name="Picture 2" descr="eda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470598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Class Imbalance Problem</a:t>
            </a:r>
          </a:p>
        </p:txBody>
      </p:sp>
      <p:pic>
        <p:nvPicPr>
          <p:cNvPr id="3" name="Picture 2" descr="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10058400" cy="404556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— Lesson 1.5 covers the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 model with 95% accuracy</a:t>
            </a:r>
          </a:p>
          <a:p>
            <a:r>
              <a:t>can catch zero attacks.</a:t>
            </a:r>
          </a:p>
          <a:p/>
          <a:p>
            <a:r>
              <a:t>You need better metrics.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Naive Accuracy Trap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t>10,000 connections, 100 are attacks (1%)</a:t>
            </a:r>
          </a:p>
          <a:p>
            <a:pPr/>
            <a:r>
              <a:t>A model that always predicts 'normal':</a:t>
            </a:r>
          </a:p>
          <a:p>
            <a:pPr lvl="1"/>
            <a:r>
              <a:t>Accuracy = 99%</a:t>
            </a:r>
          </a:p>
          <a:p>
            <a:pPr lvl="1"/>
            <a:r>
              <a:t>Attacks caught = 0</a:t>
            </a:r>
          </a:p>
          <a:p>
            <a:pPr/>
            <a:r>
              <a:t>This is everywhere in security:</a:t>
            </a:r>
          </a:p>
          <a:p>
            <a:pPr lvl="1"/>
            <a:r>
              <a:t>Network intrusion: 99% normal, 1% attack</a:t>
            </a:r>
          </a:p>
          <a:p>
            <a:pPr lvl="1"/>
            <a:r>
              <a:t>Fraud: 99.8% legitimate, 0.2% fraud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Dataset:</a:t>
            </a:r>
          </a:p>
          <a:p>
            <a:r>
              <a:t>Handwritten Digits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1,797 Images — 10 Classes — 64 Pixel Features Each</a:t>
            </a:r>
          </a:p>
        </p:txBody>
      </p:sp>
      <p:pic>
        <p:nvPicPr>
          <p:cNvPr id="3" name="Picture 2" descr="digi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371600"/>
            <a:ext cx="9144000" cy="41980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Model Actually Sees — Numbers, Not Images</a:t>
            </a:r>
          </a:p>
        </p:txBody>
      </p:sp>
      <p:pic>
        <p:nvPicPr>
          <p:cNvPr id="3" name="Picture 2" descr="what_model_s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10058400" cy="35804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Image per Class — The Prototypes the Model Learns</a:t>
            </a:r>
          </a:p>
        </p:txBody>
      </p:sp>
      <p:pic>
        <p:nvPicPr>
          <p:cNvPr id="3" name="Picture 2" descr="avg_dig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371600"/>
            <a:ext cx="9144000" cy="420146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Features vs Labels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Structure — Only the Domain Changes</a:t>
            </a:r>
          </a:p>
        </p:txBody>
      </p:sp>
      <p:pic>
        <p:nvPicPr>
          <p:cNvPr id="3" name="Picture 2" descr="features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10058400" cy="45647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Pattern: Raw Data → Features → Model →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 Start with raw data (logs, images, URLs, packets)</a:t>
            </a:r>
          </a:p>
          <a:p>
            <a:pPr/>
            <a:r>
              <a:t>2.  Extract features (X) — turn raw data into numbers</a:t>
            </a:r>
          </a:p>
          <a:p>
            <a:pPr/>
            <a:r>
              <a:t>3.  Identify labels (y) — what are you predicting?</a:t>
            </a:r>
          </a:p>
          <a:p>
            <a:pPr/>
            <a:r>
              <a:t>4.  model.fit(X, y) — the model finds the pattern</a:t>
            </a:r>
          </a:p>
          <a:p>
            <a:pPr/>
            <a:r>
              <a:t>5.  model.predict(X_new) — apply to new, unseen data</a:t>
            </a:r>
          </a:p>
          <a:p>
            <a:pPr/>
          </a:p>
          <a:p>
            <a:pPr/>
            <a:r>
              <a:t>This 5-step pattern applies to every ML project</a:t>
            </a:r>
          </a:p>
          <a:p>
            <a:pPr/>
            <a:r>
              <a:t>Everything is numbers: images, text, logs, packets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Vocabulary &amp;</a:t>
            </a:r>
          </a:p>
          <a:p>
            <a:r>
              <a:t>Python 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Libraries Used in Every Lesson</a:t>
            </a:r>
          </a:p>
        </p:txBody>
      </p:sp>
      <p:pic>
        <p:nvPicPr>
          <p:cNvPr id="3" name="Picture 2" descr="python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972800" cy="321065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Feature — one measurable input (URL length, bytes sent, pixel brightness)</a:t>
            </a:r>
          </a:p>
          <a:p>
            <a:pPr/>
            <a:r>
              <a:t>Label / Target — the answer the model predicts (phishing=1, legit=0)</a:t>
            </a:r>
          </a:p>
          <a:p>
            <a:pPr/>
            <a:r>
              <a:t>Sample — one row of data (one URL, one connection, one image)</a:t>
            </a:r>
          </a:p>
          <a:p>
            <a:pPr/>
            <a:r>
              <a:t>Training set — data the model learns from</a:t>
            </a:r>
          </a:p>
          <a:p>
            <a:pPr/>
            <a:r>
              <a:t>Test set — held-back data to evaluate honestly</a:t>
            </a:r>
          </a:p>
          <a:p>
            <a:pPr/>
            <a:r>
              <a:t>Weights — numbers inside the model, adjusted during training</a:t>
            </a:r>
          </a:p>
          <a:p>
            <a:pPr/>
            <a:r>
              <a:t>Loss — how wrong the predictions are (training minimises this)</a:t>
            </a:r>
          </a:p>
          <a:p>
            <a:pPr/>
            <a:r>
              <a:t>Epoch — one full pass through the training data</a:t>
            </a:r>
          </a:p>
          <a:p>
            <a:pPr/>
            <a:r>
              <a:t>Overfitting — memorised training data, fails on new data</a:t>
            </a:r>
          </a:p>
          <a:p>
            <a:pPr/>
            <a:r>
              <a:t>Class imbalance — one label far more common (99% benign, 1% attack)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  <a:p>
            <a:r>
              <a:t>5 Hands-On Exercises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— Full EDA on the Digits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Exercise 1: Load the dataset — Bunch, DataFrame, features vs labels</a:t>
            </a:r>
          </a:p>
          <a:p>
            <a:pPr/>
            <a:r>
              <a:t>Exercise 2: Shape and statistics — .describe(), missing values, zero-variance</a:t>
            </a:r>
          </a:p>
          <a:p>
            <a:pPr/>
            <a:r>
              <a:t>Exercise 3: Class balance — the naive accuracy trap, imbalance ratio</a:t>
            </a:r>
          </a:p>
          <a:p>
            <a:pPr/>
            <a:r>
              <a:t>Exercise 4: Visualise — image grids, average prototypes per class</a:t>
            </a:r>
          </a:p>
          <a:p>
            <a:pPr/>
            <a:r>
              <a:t>Exercise 5: What the model sees — number grids, correlations, security analogy</a:t>
            </a:r>
          </a:p>
          <a:p>
            <a:pPr/>
          </a:p>
          <a:p>
            <a:pPr/>
            <a:r>
              <a:t>Each exercise: lecture.md → handson.md → solution_*.py</a:t>
            </a:r>
          </a:p>
          <a:p>
            <a:pPr/>
            <a:r>
              <a:t>Run your script after each step — verify output before moving 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ML finds patterns from labelled examples — no hand-crafted rules</a:t>
            </a:r>
          </a:p>
          <a:p>
            <a:pPr/>
            <a:r>
              <a:t>Supervised learning: features (X) → label (y) — most common in security</a:t>
            </a:r>
          </a:p>
          <a:p>
            <a:pPr/>
            <a:r>
              <a:t>Training = adjusting weights to minimise loss over many epochs</a:t>
            </a:r>
          </a:p>
          <a:p>
            <a:pPr/>
            <a:r>
              <a:t>Every ML project: data → EDA → split → train → evaluate → tune → deploy</a:t>
            </a:r>
          </a:p>
          <a:p>
            <a:pPr/>
            <a:r>
              <a:t>Never evaluate on training data — always use a held-out test set</a:t>
            </a:r>
          </a:p>
          <a:p>
            <a:pPr/>
            <a:r>
              <a:t>EDA catches silent failures: class imbalance, missing values, leakage</a:t>
            </a:r>
          </a:p>
          <a:p>
            <a:pPr/>
            <a:r>
              <a:t>Everything is numbers — images, text, logs all become feature rows</a:t>
            </a:r>
          </a:p>
          <a:p>
            <a:pPr/>
            <a:r>
              <a:t>Next: 5 exercises doing the full EDA yourself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 → Lesson 1.2: Linear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