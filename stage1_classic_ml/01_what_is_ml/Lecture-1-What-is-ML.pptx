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1.1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is Machine Learning?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From Rules to Learning  -  A Security Perspective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/>
              <a:t>Traditional programming vs machine learning</a:t>
            </a:r>
          </a:p>
          <a:p>
            <a:r>
              <a:rPr sz="1600"/>
              <a:t>The three types of ML</a:t>
            </a:r>
          </a:p>
          <a:p>
            <a:r>
              <a:rPr sz="1600"/>
              <a:t>How a model learns - the training loop</a:t>
            </a:r>
          </a:p>
          <a:p>
            <a:r>
              <a:rPr sz="1600"/>
              <a:t>The ML workflow and EDA</a:t>
            </a:r>
          </a:p>
          <a:p>
            <a:r>
              <a:rPr sz="1600"/>
              <a:t>Meet the dataset: handwritten digits</a:t>
            </a:r>
          </a:p>
          <a:p>
            <a:r>
              <a:rPr sz="1600"/>
              <a:t>Python tools and getting started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Traditional Programming</a:t>
            </a:r>
          </a:p>
          <a:p>
            <a:r>
              <a:t>vs Machine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Approaches to Problem Solving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Traditional Programming</a:t>
            </a:r>
          </a:p>
          <a:p>
            <a:r>
              <a:rPr sz="1400"/>
              <a:t/>
            </a:r>
          </a:p>
          <a:p>
            <a:r>
              <a:rPr sz="1400"/>
              <a:t>You write explicit rules:</a:t>
            </a:r>
          </a:p>
          <a:p>
            <a:r>
              <a:rPr sz="1400"/>
              <a:t>  if "free money" in email: spam</a:t>
            </a:r>
          </a:p>
          <a:p>
            <a:r>
              <a:rPr sz="1400"/>
              <a:t>  if sender unknown: spam</a:t>
            </a:r>
          </a:p>
          <a:p>
            <a:r>
              <a:rPr sz="1400"/>
              <a:t/>
            </a:r>
          </a:p>
          <a:p>
            <a:r>
              <a:rPr sz="1400"/>
              <a:t>Problem:</a:t>
            </a:r>
          </a:p>
          <a:p>
            <a:r>
              <a:rPr sz="1400"/>
              <a:t>  Attackers learn your rules</a:t>
            </a:r>
          </a:p>
          <a:p>
            <a:r>
              <a:rPr sz="1400"/>
              <a:t>  Change one word, bypass the filter</a:t>
            </a:r>
          </a:p>
          <a:p>
            <a:r>
              <a:rPr sz="1400"/>
              <a:t>  Rules don't scale to millions of signals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Machine Learning</a:t>
            </a:r>
          </a:p>
          <a:p>
            <a:r>
              <a:rPr sz="1400"/>
              <a:t/>
            </a:r>
          </a:p>
          <a:p>
            <a:r>
              <a:rPr sz="1400"/>
              <a:t>You provide labelled examples:</a:t>
            </a:r>
          </a:p>
          <a:p>
            <a:r>
              <a:rPr sz="1400"/>
              <a:t>  10,000 emails tagged spam / legit</a:t>
            </a:r>
          </a:p>
          <a:p>
            <a:r>
              <a:rPr sz="1400"/>
              <a:t>  Model discovers the patterns itself</a:t>
            </a:r>
          </a:p>
          <a:p>
            <a:r>
              <a:rPr sz="1400"/>
              <a:t/>
            </a:r>
          </a:p>
          <a:p>
            <a:r>
              <a:rPr sz="1400"/>
              <a:t>Advantage:</a:t>
            </a:r>
          </a:p>
          <a:p>
            <a:r>
              <a:rPr sz="1400"/>
              <a:t>  Catches subtle combinations</a:t>
            </a:r>
          </a:p>
          <a:p>
            <a:r>
              <a:rPr sz="1400"/>
              <a:t>  Adapts when new data arrives</a:t>
            </a:r>
          </a:p>
          <a:p>
            <a:r>
              <a:rPr sz="1400"/>
              <a:t>  Scales across entire organisations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Fundamental Difference</a:t>
            </a:r>
          </a:p>
        </p:txBody>
      </p:sp>
      <p:pic>
        <p:nvPicPr>
          <p:cNvPr id="3" name="Picture 2" descr="trad_vs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37281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Attackers constantly change</a:t>
            </a:r>
          </a:p>
          <a:p>
            <a:r>
              <a:rPr sz="1400"/>
              <a:t>tactics, but their statistical</a:t>
            </a:r>
          </a:p>
          <a:p>
            <a:r>
              <a:rPr sz="1400"/>
              <a:t>patterns persist across</a:t>
            </a:r>
          </a:p>
          <a:p>
            <a:r>
              <a:rPr sz="1400"/>
              <a:t>campaigns.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Matters for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Already in production:</a:t>
            </a:r>
          </a:p>
          <a:p>
            <a:r>
              <a:rPr sz="1400"/>
              <a:t>  Email filters (99.9% spam blocked)</a:t>
            </a:r>
          </a:p>
          <a:p>
            <a:r>
              <a:rPr sz="1400"/>
              <a:t>  Endpoint detection (behavioural)</a:t>
            </a:r>
          </a:p>
          <a:p>
            <a:r>
              <a:rPr sz="1400"/>
              <a:t>  SIEM (anomaly scoring)</a:t>
            </a:r>
          </a:p>
          <a:p>
            <a:r>
              <a:rPr sz="1400"/>
              <a:t>  Network IDS (traffic classification)</a:t>
            </a:r>
          </a:p>
          <a:p>
            <a:r>
              <a:rPr sz="1400"/>
              <a:t/>
            </a:r>
          </a:p>
          <a:p>
            <a:r>
              <a:rPr sz="1400"/>
              <a:t>Traditional rules are reactive;</a:t>
            </a:r>
          </a:p>
          <a:p>
            <a:r>
              <a:rPr sz="1400"/>
              <a:t>ML models are predictive.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Three Types of</a:t>
            </a:r>
          </a:p>
          <a:p>
            <a:r>
              <a:t>Machine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Supervised, Unsupervised, and Reinforcement Learning</a:t>
            </a:r>
          </a:p>
        </p:txBody>
      </p:sp>
      <p:pic>
        <p:nvPicPr>
          <p:cNvPr id="3" name="Picture 2" descr="thre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61078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How a Model</a:t>
            </a:r>
          </a:p>
          <a:p>
            <a:r>
              <a:t>Actually Learns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Training Loop</a:t>
            </a:r>
          </a:p>
        </p:txBody>
      </p:sp>
      <p:pic>
        <p:nvPicPr>
          <p:cNvPr id="3" name="Picture 2" descr="training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0960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Loss Decreases as the Model Learns</a:t>
            </a:r>
          </a:p>
        </p:txBody>
      </p:sp>
      <p:pic>
        <p:nvPicPr>
          <p:cNvPr id="3" name="Picture 2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1782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The model finds patterns</a:t>
            </a:r>
          </a:p>
          <a:p>
            <a:r>
              <a:rPr sz="1400"/>
              <a:t>across dozens of subtle</a:t>
            </a:r>
          </a:p>
          <a:p>
            <a:r>
              <a:rPr sz="1400"/>
              <a:t>signals that no human</a:t>
            </a:r>
          </a:p>
          <a:p>
            <a:r>
              <a:rPr sz="1400"/>
              <a:t>would write as rules.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Key Concepts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Weights</a:t>
            </a:r>
          </a:p>
          <a:p>
            <a:r>
              <a:rPr sz="1400"/>
              <a:t>  Numbers inside the model</a:t>
            </a:r>
          </a:p>
          <a:p>
            <a:r>
              <a:rPr sz="1400"/>
              <a:t>  Adjusted each training step</a:t>
            </a:r>
          </a:p>
          <a:p>
            <a:r>
              <a:rPr sz="1400"/>
              <a:t/>
            </a:r>
          </a:p>
          <a:p>
            <a:r>
              <a:rPr sz="1400"/>
              <a:t>Loss</a:t>
            </a:r>
          </a:p>
          <a:p>
            <a:r>
              <a:rPr sz="1400"/>
              <a:t>  How wrong the predictions are</a:t>
            </a:r>
          </a:p>
          <a:p>
            <a:r>
              <a:rPr sz="1400"/>
              <a:t>  Training = minimise loss</a:t>
            </a:r>
          </a:p>
          <a:p>
            <a:r>
              <a:rPr sz="1400"/>
              <a:t/>
            </a:r>
          </a:p>
          <a:p>
            <a:r>
              <a:rPr sz="1400"/>
              <a:t>Epoch</a:t>
            </a:r>
          </a:p>
          <a:p>
            <a:r>
              <a:rPr sz="1400"/>
              <a:t>  One full pass through all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ML Workflow</a:t>
            </a:r>
          </a:p>
          <a:p>
            <a:r>
              <a:t>and EDA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ML Project Follows This Pipeline</a:t>
            </a:r>
          </a:p>
        </p:txBody>
      </p:sp>
      <p:pic>
        <p:nvPicPr>
          <p:cNvPr id="3" name="Picture 2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63040"/>
            <a:ext cx="11795760" cy="39660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Train / Test Split</a:t>
            </a:r>
          </a:p>
        </p:txBody>
      </p:sp>
      <p:pic>
        <p:nvPicPr>
          <p:cNvPr id="3" name="Picture 2" descr="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36390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EDA: Examine Data Before Training</a:t>
            </a:r>
          </a:p>
        </p:txBody>
      </p:sp>
      <p:pic>
        <p:nvPicPr>
          <p:cNvPr id="3" name="Picture 2" descr="eda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400784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Class Imbalance Problem</a:t>
            </a:r>
          </a:p>
        </p:txBody>
      </p:sp>
      <p:pic>
        <p:nvPicPr>
          <p:cNvPr id="3" name="Picture 2" descr="class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37454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Meet the Dataset:</a:t>
            </a:r>
          </a:p>
          <a:p>
            <a:r>
              <a:t>Handwritten Digits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1,797 Images  -  10 Classes  -  64 Features Each</a:t>
            </a:r>
          </a:p>
        </p:txBody>
      </p:sp>
      <p:pic>
        <p:nvPicPr>
          <p:cNvPr id="3" name="Picture 2" descr="digit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291790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Model Actually Sees</a:t>
            </a:r>
          </a:p>
        </p:txBody>
      </p:sp>
      <p:pic>
        <p:nvPicPr>
          <p:cNvPr id="3" name="Picture 2" descr="what_model_s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058400" cy="437543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Average Image per Class: The Learned Prototypes</a:t>
            </a:r>
          </a:p>
        </p:txBody>
      </p:sp>
      <p:pic>
        <p:nvPicPr>
          <p:cNvPr id="3" name="Picture 2" descr="avg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1247120" cy="13223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Features (X) and Labels (y): The Universal Structure</a:t>
            </a:r>
          </a:p>
        </p:txBody>
      </p:sp>
      <p:pic>
        <p:nvPicPr>
          <p:cNvPr id="3" name="Picture 2" descr="features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10972800" cy="400184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Python Tools</a:t>
            </a:r>
          </a:p>
          <a:p>
            <a:r>
              <a:t>and Getting Started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Libraries You'll Use in Every Lesson</a:t>
            </a:r>
          </a:p>
        </p:txBody>
      </p:sp>
      <p:pic>
        <p:nvPicPr>
          <p:cNvPr id="3" name="Picture 2" descr="python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10972800" cy="307238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Feature - one measurable input</a:t>
            </a:r>
          </a:p>
          <a:p>
            <a:r>
              <a:rPr sz="1400"/>
              <a:t>Label - the answer to predict</a:t>
            </a:r>
          </a:p>
          <a:p>
            <a:r>
              <a:rPr sz="1400"/>
              <a:t>Sample - one row of data</a:t>
            </a:r>
          </a:p>
          <a:p>
            <a:r>
              <a:rPr sz="1400"/>
              <a:t>Training set - data for learning</a:t>
            </a:r>
          </a:p>
          <a:p>
            <a:r>
              <a:rPr sz="1400"/>
              <a:t>Test set - data for evaluation</a:t>
            </a:r>
          </a:p>
          <a:p>
            <a:r>
              <a:rPr sz="1400"/>
              <a:t>Model - the learned function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Weights - adjustable parameters</a:t>
            </a:r>
          </a:p>
          <a:p>
            <a:r>
              <a:rPr sz="1400"/>
              <a:t>Loss - prediction error</a:t>
            </a:r>
          </a:p>
          <a:p>
            <a:r>
              <a:rPr sz="1400"/>
              <a:t>Epoch - one pass through data</a:t>
            </a:r>
          </a:p>
          <a:p>
            <a:r>
              <a:rPr sz="1400"/>
              <a:t>Overfitting - memorised, not learned</a:t>
            </a:r>
          </a:p>
          <a:p>
            <a:r>
              <a:rPr sz="1400"/>
              <a:t>Underfitting - too simple</a:t>
            </a:r>
          </a:p>
          <a:p>
            <a:r>
              <a:rPr sz="1400"/>
              <a:t>Class imbalance - skewed labels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Workshop: 5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Exercise 1:  Load the digits dataset into a DataFrame</a:t>
            </a:r>
          </a:p>
          <a:p>
            <a:r>
              <a:rPr sz="1600"/>
              <a:t>Exercise 2:  Shape, statistics, and missing values</a:t>
            </a:r>
          </a:p>
          <a:p>
            <a:r>
              <a:rPr sz="1600"/>
              <a:t>Exercise 3:  Class balance and the accuracy trap</a:t>
            </a:r>
          </a:p>
          <a:p>
            <a:r>
              <a:rPr sz="1600"/>
              <a:t>Exercise 4:  Visualise samples and average prototypes</a:t>
            </a:r>
          </a:p>
          <a:p>
            <a:r>
              <a:rPr sz="1600"/>
              <a:t>Exercise 5:  What the model sees - numbers and correlations</a:t>
            </a:r>
          </a:p>
          <a:p>
            <a:r>
              <a:rPr sz="1600"/>
              <a:t/>
            </a:r>
          </a:p>
          <a:p>
            <a:r>
              <a:rPr sz="1600"/>
              <a:t>Each exercise: lecture.md (concept) + handson.md (build it yourself)</a:t>
            </a:r>
          </a:p>
          <a:p>
            <a:r>
              <a:rPr sz="1600"/>
              <a:t>Solution files provided to check your work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/>
              <a:t>ML finds patterns from examples - no hand-crafted rules</a:t>
            </a:r>
          </a:p>
          <a:p>
            <a:r>
              <a:rPr sz="1500"/>
              <a:t>Supervised learning (X -&gt; y) is most common in security</a:t>
            </a:r>
          </a:p>
          <a:p>
            <a:r>
              <a:rPr sz="1500"/>
              <a:t>Training = adjusting weights to minimise loss over epochs</a:t>
            </a:r>
          </a:p>
          <a:p>
            <a:r>
              <a:rPr sz="1500"/>
              <a:t>Always: data -&gt; EDA -&gt; split -&gt; train -&gt; evaluate -&gt; tune</a:t>
            </a:r>
          </a:p>
          <a:p>
            <a:r>
              <a:rPr sz="1500"/>
              <a:t>Never evaluate on training data - it measures memorisation</a:t>
            </a:r>
          </a:p>
          <a:p>
            <a:r>
              <a:rPr sz="1500"/>
              <a:t>Class imbalance is everywhere in security - accuracy misleads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</a:t>
            </a:r>
          </a:p>
          <a:p>
            <a:r>
              <a:t>Takeaways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Next:  Lesson 1.2 - Linear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is Machine Learning?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