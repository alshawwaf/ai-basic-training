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1.1 —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What is Machine Learning?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For Security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Traditional programming vs machine learning</a:t>
            </a:r>
          </a:p>
          <a:p>
            <a:pPr/>
            <a:r>
              <a:t>The three types of ML — supervised, unsupervised, reinforcement</a:t>
            </a:r>
          </a:p>
          <a:p>
            <a:pPr/>
            <a:r>
              <a:t>How a model actually learns — weights, loss, epochs</a:t>
            </a:r>
          </a:p>
          <a:p>
            <a:pPr/>
            <a:r>
              <a:t>The ML workflow — the 8-step loop every project follows</a:t>
            </a:r>
          </a:p>
          <a:p>
            <a:pPr/>
            <a:r>
              <a:t>Exploratory Data Analysis (EDA) — why skipping it kills projects</a:t>
            </a:r>
          </a:p>
          <a:p>
            <a:pPr/>
            <a:r>
              <a:t>The dataset: 1,797 handwritten digits, 64 pixel features each</a:t>
            </a:r>
          </a:p>
          <a:p>
            <a:pPr/>
            <a:r>
              <a:t>Features vs labels — the fundamental split</a:t>
            </a:r>
          </a:p>
          <a:p>
            <a:pPr/>
            <a:r>
              <a:t>Key vocabulary and Python tools</a:t>
            </a:r>
          </a:p>
          <a:p>
            <a:pPr/>
            <a:r>
              <a:t>Workshop overview — 5 hands-on exercises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Traditional Programming</a:t>
            </a:r>
          </a:p>
          <a:p>
            <a:r>
              <a:t>vs Machine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Traditional Programming — You Write the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You hand-craft explicit rules:</a:t>
            </a:r>
          </a:p>
          <a:p>
            <a:pPr lvl="1"/>
            <a:r>
              <a:t>if "free money" in email → mark as spam</a:t>
            </a:r>
          </a:p>
          <a:p>
            <a:pPr lvl="1"/>
            <a:r>
              <a:t>if sender not in contacts → mark as spam</a:t>
            </a:r>
          </a:p>
          <a:p>
            <a:pPr lvl="1"/>
            <a:r>
              <a:t>if subject contains "URGENT" → mark as spam</a:t>
            </a:r>
          </a:p>
          <a:p>
            <a:pPr/>
            <a:r>
              <a:t>The computer applies your rules to every email</a:t>
            </a:r>
          </a:p>
          <a:p>
            <a:pPr/>
            <a:r>
              <a:t>The problem:</a:t>
            </a:r>
          </a:p>
          <a:p>
            <a:pPr lvl="1"/>
            <a:r>
              <a:t>Attackers learn your rules and work around them</a:t>
            </a:r>
          </a:p>
          <a:p>
            <a:pPr lvl="1"/>
            <a:r>
              <a:t>Change one word → bypass the filter</a:t>
            </a:r>
          </a:p>
          <a:p>
            <a:pPr lvl="1"/>
            <a:r>
              <a:t>Rules don't scale to millions of evolving patterns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— The Computer Finds the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You provide thousands of labelled examples:</a:t>
            </a:r>
          </a:p>
          <a:p>
            <a:pPr lvl="1"/>
            <a:r>
              <a:t>10,000 emails, each tagged as spam or legitimate</a:t>
            </a:r>
          </a:p>
          <a:p>
            <a:pPr/>
            <a:r>
              <a:t>Each email described by measurable properties:</a:t>
            </a:r>
          </a:p>
          <a:p>
            <a:pPr lvl="1"/>
            <a:r>
              <a:t>word_count=42, num_links=8, has_attachment=1, domain_age=3</a:t>
            </a:r>
          </a:p>
          <a:p>
            <a:pPr/>
            <a:r>
              <a:t>model.fit(emails, labels)  — the model finds patterns</a:t>
            </a:r>
          </a:p>
          <a:p>
            <a:pPr/>
            <a:r>
              <a:t>model.predict(new_email)   — applies those patterns to new data</a:t>
            </a:r>
          </a:p>
          <a:p>
            <a:pPr/>
            <a:r>
              <a:t>The patterns are combinations of dozens of subtle signals</a:t>
            </a:r>
          </a:p>
          <a:p>
            <a:pPr lvl="1"/>
            <a:r>
              <a:t>No human would think to write them as rules</a:t>
            </a:r>
          </a:p>
          <a:p>
            <a:pPr/>
            <a:r>
              <a:t>This is why ML outperforms hand-crafted rules on complex problems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Matters for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Attackers constantly change their tactics</a:t>
            </a:r>
          </a:p>
          <a:p>
            <a:pPr/>
            <a:r>
              <a:t>But their statistical patterns persist across campaigns</a:t>
            </a:r>
          </a:p>
          <a:p>
            <a:pPr/>
            <a:r>
              <a:t>ML detects those persistent patterns automatically</a:t>
            </a:r>
          </a:p>
          <a:p>
            <a:pPr/>
            <a:r>
              <a:t>Already deployed in production security tooling:</a:t>
            </a:r>
          </a:p>
          <a:p>
            <a:pPr lvl="1"/>
            <a:r>
              <a:t>Email filters — Gmail blocks 99.9% of spam with ML</a:t>
            </a:r>
          </a:p>
          <a:p>
            <a:pPr lvl="1"/>
            <a:r>
              <a:t>Endpoint detection — behavioural analysis of process activity</a:t>
            </a:r>
          </a:p>
          <a:p>
            <a:pPr lvl="1"/>
            <a:r>
              <a:t>SIEM correlation — anomaly scoring across log sources</a:t>
            </a:r>
          </a:p>
          <a:p>
            <a:pPr lvl="1"/>
            <a:r>
              <a:t>Network intrusion detection — traffic classification at wire speed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Three Types of</a:t>
            </a:r>
          </a:p>
          <a:p>
            <a:r>
              <a:t>Machine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Supervised Learning — Labelled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Every sample has a correct answer (label) attached</a:t>
            </a:r>
          </a:p>
          <a:p>
            <a:pPr/>
            <a:r>
              <a:t>The model learns the mapping: input features → label</a:t>
            </a:r>
          </a:p>
          <a:p>
            <a:pPr/>
            <a:r>
              <a:t>Input:  [url_length=92, num_dots=5, has_at=1]  →  phishing</a:t>
            </a:r>
          </a:p>
          <a:p>
            <a:pPr/>
            <a:r>
              <a:t>Input:  [url_length=14, num_dots=1, has_at=0]  →  legitimate</a:t>
            </a:r>
          </a:p>
          <a:p>
            <a:pPr/>
            <a:r>
              <a:t>The most widely used type in security:</a:t>
            </a:r>
          </a:p>
          <a:p>
            <a:pPr lvl="1"/>
            <a:r>
              <a:t>Phishing URL classifier</a:t>
            </a:r>
          </a:p>
          <a:p>
            <a:pPr lvl="1"/>
            <a:r>
              <a:t>Malware vs benign file classifier</a:t>
            </a:r>
          </a:p>
          <a:p>
            <a:pPr lvl="1"/>
            <a:r>
              <a:t>Network intrusion detector</a:t>
            </a:r>
          </a:p>
          <a:p>
            <a:pPr/>
            <a:r>
              <a:t>Focus of Stages 1 and 2 in this curriculum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Unsupervised Learning — No Labels Needed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No labels — the algorithm finds structure in the data on its own</a:t>
            </a:r>
          </a:p>
          <a:p>
            <a:pPr/>
            <a:r>
              <a:t>Input:  [bytes_sent, duration, unique_ports]   (no label)</a:t>
            </a:r>
          </a:p>
          <a:p>
            <a:pPr/>
            <a:r>
              <a:t>Output: "this connection looks different from all the others"</a:t>
            </a:r>
          </a:p>
          <a:p>
            <a:pPr/>
            <a:r>
              <a:t>You don't need to know what an attack looks like</a:t>
            </a:r>
          </a:p>
          <a:p>
            <a:pPr/>
            <a:r>
              <a:t>You just need to know when something deviates from normal</a:t>
            </a:r>
          </a:p>
          <a:p>
            <a:pPr/>
            <a:r>
              <a:t>Security applications:</a:t>
            </a:r>
          </a:p>
          <a:p>
            <a:pPr lvl="1"/>
            <a:r>
              <a:t>Anomaly detection in network traffic</a:t>
            </a:r>
          </a:p>
          <a:p>
            <a:pPr lvl="1"/>
            <a:r>
              <a:t>Clustering user behaviour to find insider threats</a:t>
            </a:r>
          </a:p>
          <a:p>
            <a:pPr/>
            <a:r>
              <a:t>Covered in Stage 2, Lesson 2.3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Reinforcement Learning — Trial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The model learns by interacting with an environment</a:t>
            </a:r>
          </a:p>
          <a:p>
            <a:pPr/>
            <a:r>
              <a:t>Receives rewards for correct decisions, penalties for bad ones</a:t>
            </a:r>
          </a:p>
          <a:p>
            <a:pPr/>
            <a:r>
              <a:t>Over time, it develops a strategy that maximises total reward</a:t>
            </a:r>
          </a:p>
          <a:p>
            <a:pPr/>
            <a:r>
              <a:t>Less common in day-to-day security, but growing:</a:t>
            </a:r>
          </a:p>
          <a:p>
            <a:pPr lvl="1"/>
            <a:r>
              <a:t>Automated penetration testing agents</a:t>
            </a:r>
          </a:p>
          <a:p>
            <a:pPr lvl="1"/>
            <a:r>
              <a:t>Adaptive threat response systems</a:t>
            </a:r>
          </a:p>
          <a:p>
            <a:pPr/>
            <a:r>
              <a:t>Not covered in this curriculum — but you should know it exists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How a Model</a:t>
            </a:r>
          </a:p>
          <a:p>
            <a:r>
              <a:t>Actually Learns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Learning Loop — What Happens Inside model.fit()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1.  The model makes a prediction on a training sample</a:t>
            </a:r>
          </a:p>
          <a:p>
            <a:pPr/>
            <a:r>
              <a:t>2.  Compare prediction to the correct label</a:t>
            </a:r>
          </a:p>
          <a:p>
            <a:pPr lvl="1"/>
            <a:r>
              <a:t>     The difference is called the loss</a:t>
            </a:r>
          </a:p>
          <a:p>
            <a:pPr/>
            <a:r>
              <a:t>3.  The model adjusts its internal numbers (weights) to reduce the loss</a:t>
            </a:r>
          </a:p>
          <a:p>
            <a:pPr/>
            <a:r>
              <a:t>4.  Repeat for every sample — one full pass = one epoch</a:t>
            </a:r>
          </a:p>
          <a:p>
            <a:pPr/>
            <a:r>
              <a:t>After enough epochs, the weights settle into values that</a:t>
            </a:r>
          </a:p>
          <a:p>
            <a:pPr/>
            <a:r>
              <a:t>produce correct predictions on data the model has never seen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Watching the Loss Drop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Epoch 1:    Loss = 0.92   (model is mostly guessing)</a:t>
            </a:r>
          </a:p>
          <a:p>
            <a:pPr/>
            <a:r>
              <a:t>Epoch 10:   Loss = 0.41   (model is learning patterns)</a:t>
            </a:r>
          </a:p>
          <a:p>
            <a:pPr/>
            <a:r>
              <a:t>Epoch 50:   Loss = 0.08   (model is now reliable)</a:t>
            </a:r>
          </a:p>
          <a:p>
            <a:pPr/>
            <a:r>
              <a:t>Loss is a single number measuring "how wrong are we?"</a:t>
            </a:r>
          </a:p>
          <a:p>
            <a:pPr/>
            <a:r>
              <a:t>Training = finding the weights that minimise this number</a:t>
            </a:r>
          </a:p>
          <a:p>
            <a:pPr/>
            <a:r>
              <a:t>Weights — the numbers inside the model, adjusted during training</a:t>
            </a:r>
          </a:p>
          <a:p>
            <a:pPr/>
            <a:r>
              <a:t>They encode learned patterns like:</a:t>
            </a:r>
          </a:p>
          <a:p>
            <a:pPr lvl="1"/>
            <a:r>
              <a:t>"emails with many links + young sender domain → spam"</a:t>
            </a:r>
          </a:p>
          <a:p>
            <a:pPr/>
            <a:r>
              <a:t>You don't write any of this — the ML library handles 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ML Workflow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ML Workflow — Every Project Follows This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1.  Get data</a:t>
            </a:r>
          </a:p>
          <a:p>
            <a:pPr/>
            <a:r>
              <a:t>2.  Clean and prepare it</a:t>
            </a:r>
          </a:p>
          <a:p>
            <a:pPr/>
            <a:r>
              <a:t>3.  Explore the data (EDA) — what you are about to learn</a:t>
            </a:r>
          </a:p>
          <a:p>
            <a:pPr/>
            <a:r>
              <a:t>4.  Split into training set and test set</a:t>
            </a:r>
          </a:p>
          <a:p>
            <a:pPr/>
            <a:r>
              <a:t>5.  Train the model on the training set</a:t>
            </a:r>
          </a:p>
          <a:p>
            <a:pPr/>
            <a:r>
              <a:t>6.  Evaluate on the test set</a:t>
            </a:r>
          </a:p>
          <a:p>
            <a:pPr/>
            <a:r>
              <a:t>7.  Tune → repeat from step 5</a:t>
            </a:r>
          </a:p>
          <a:p>
            <a:pPr/>
            <a:r>
              <a:t>8.  Deploy / use</a:t>
            </a:r>
          </a:p>
          <a:p>
            <a:pPr/>
            <a:r>
              <a:t>This loop applies to every ML project you will ever build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Train / Test Split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If you evaluate on the same data you trained on:</a:t>
            </a:r>
          </a:p>
          <a:p>
            <a:pPr lvl="1"/>
            <a:r>
              <a:t>You are measuring memorisation, not generalisation</a:t>
            </a:r>
          </a:p>
          <a:p>
            <a:pPr lvl="1"/>
            <a:r>
              <a:t>A model can score 100% by memorising every example</a:t>
            </a:r>
          </a:p>
          <a:p>
            <a:pPr lvl="1"/>
            <a:r>
              <a:t>It has learned nothing useful about unseen data</a:t>
            </a:r>
          </a:p>
          <a:p>
            <a:pPr/>
            <a:r>
              <a:t>The test set is data the model has never seen during training</a:t>
            </a:r>
          </a:p>
          <a:p>
            <a:pPr lvl="1"/>
            <a:r>
              <a:t>It gives an honest measure of real-world performance</a:t>
            </a:r>
          </a:p>
          <a:p>
            <a:pPr/>
            <a:r>
              <a:t>This is the single most important rule in ML:</a:t>
            </a:r>
          </a:p>
          <a:p>
            <a:pPr lvl="1"/>
            <a:r>
              <a:t>Never evaluate on training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Exploratory Data</a:t>
            </a:r>
          </a:p>
          <a:p>
            <a:r>
              <a:t>Analysis (EDA)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— Examine Your Data Before Training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Skipping EDA is the #1 reason ML projects fail silently</a:t>
            </a:r>
          </a:p>
          <a:p>
            <a:pPr/>
            <a:r>
              <a:t>The model trains without errors, produces reasonable numbers...</a:t>
            </a:r>
          </a:p>
          <a:p>
            <a:pPr/>
            <a:r>
              <a:t>...then performs terribly in production</a:t>
            </a:r>
          </a:p>
          <a:p>
            <a:pPr/>
            <a:r>
              <a:t>Because a problem in the data was never caught</a:t>
            </a:r>
          </a:p>
          <a:p>
            <a:pPr/>
            <a:r>
              <a:t>What you are looking for:</a:t>
            </a:r>
          </a:p>
          <a:p>
            <a:pPr lvl="1"/>
            <a:r>
              <a:t>Class balance — how many examples of each class?</a:t>
            </a:r>
          </a:p>
          <a:p>
            <a:pPr lvl="1"/>
            <a:r>
              <a:t>Missing values — gaps in log data, sensors that went offline</a:t>
            </a:r>
          </a:p>
          <a:p>
            <a:pPr lvl="1"/>
            <a:r>
              <a:t>Feature distributions — outliers, unexpected ranges</a:t>
            </a:r>
          </a:p>
          <a:p>
            <a:pPr lvl="1"/>
            <a:r>
              <a:t>Data leakage — features that accidentally reveal the label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Class Imbalance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Typical security dataset:</a:t>
            </a:r>
          </a:p>
          <a:p>
            <a:pPr lvl="1"/>
            <a:r>
              <a:t>Normal traffic:   950,000 connections   (95%)</a:t>
            </a:r>
          </a:p>
          <a:p>
            <a:pPr lvl="1"/>
            <a:r>
              <a:t>Attack traffic:     50,000 connections     (5%)</a:t>
            </a:r>
          </a:p>
          <a:p>
            <a:pPr/>
            <a:r>
              <a:t>A model that always predicts "normal":</a:t>
            </a:r>
          </a:p>
          <a:p>
            <a:pPr lvl="1"/>
            <a:r>
              <a:t>Accuracy = 95%</a:t>
            </a:r>
          </a:p>
          <a:p>
            <a:pPr lvl="1"/>
            <a:r>
              <a:t>Attacks caught = 0</a:t>
            </a:r>
          </a:p>
          <a:p>
            <a:pPr/>
            <a:r>
              <a:t>This is the naive accuracy trap — a score you must beat</a:t>
            </a:r>
          </a:p>
          <a:p>
            <a:pPr/>
            <a:r>
              <a:t>It is everywhere in security:</a:t>
            </a:r>
          </a:p>
          <a:p>
            <a:pPr lvl="1"/>
            <a:r>
              <a:t>Network intrusion: 99% normal, 1% attack</a:t>
            </a:r>
          </a:p>
          <a:p>
            <a:pPr lvl="1"/>
            <a:r>
              <a:t>Fraud detection:   99.8% legitimate, 0.2% fraud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Statistics Before Modelling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df.describe() summarises every column in one call:</a:t>
            </a:r>
          </a:p>
          <a:p>
            <a:pPr lvl="1"/>
            <a:r>
              <a:t>count — how many non-null values (are there gaps?)</a:t>
            </a:r>
          </a:p>
          <a:p>
            <a:pPr lvl="1"/>
            <a:r>
              <a:t>mean, std — average and spread (is the feature useful?)</a:t>
            </a:r>
          </a:p>
          <a:p>
            <a:pPr lvl="1"/>
            <a:r>
              <a:t>min, max — are there impossible values? outliers?</a:t>
            </a:r>
          </a:p>
          <a:p>
            <a:pPr/>
            <a:r>
              <a:t>What the statistics catch:</a:t>
            </a:r>
          </a:p>
          <a:p>
            <a:pPr lvl="1"/>
            <a:r>
              <a:t>Zero-variance features (std = 0) → carries no information → remove it</a:t>
            </a:r>
          </a:p>
          <a:p>
            <a:pPr lvl="1"/>
            <a:r>
              <a:t>Wildly different scales → algorithms like KNN will break</a:t>
            </a:r>
          </a:p>
          <a:p>
            <a:pPr lvl="1"/>
            <a:r>
              <a:t>Missing values → NaN propagation → silent wrong predictions</a:t>
            </a:r>
          </a:p>
          <a:p>
            <a:pPr/>
            <a:r>
              <a:t>In security data, all of these are common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Leakage — The Subtle Killer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Sometimes a feature contains information about the label</a:t>
            </a:r>
          </a:p>
          <a:p>
            <a:pPr/>
            <a:r>
              <a:t>that would not be available at prediction time</a:t>
            </a:r>
          </a:p>
          <a:p>
            <a:pPr/>
            <a:r>
              <a:t>Example: a column "was_flagged_by_ids"</a:t>
            </a:r>
          </a:p>
          <a:p>
            <a:pPr lvl="1"/>
            <a:r>
              <a:t>Makes the model look perfect during training</a:t>
            </a:r>
          </a:p>
          <a:p>
            <a:pPr lvl="1"/>
            <a:r>
              <a:t>But this column would never exist on live traffic</a:t>
            </a:r>
          </a:p>
          <a:p>
            <a:pPr/>
            <a:r>
              <a:t>The model learned a shortcut, not the real pattern</a:t>
            </a:r>
          </a:p>
          <a:p>
            <a:pPr/>
            <a:r>
              <a:t>Always ask: "Would I have this feature at prediction time?"</a:t>
            </a:r>
          </a:p>
          <a:p>
            <a:pPr/>
            <a:r>
              <a:t>If the answer is no, remove it before training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Dataset:</a:t>
            </a:r>
          </a:p>
          <a:p>
            <a:r>
              <a:t>Handwritten Digits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Digits Dataset — What You Will Work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UCI Optical Recognition of Handwritten Digits</a:t>
            </a:r>
          </a:p>
          <a:p>
            <a:pPr/>
            <a:r>
              <a:t>Ships inside scikit-learn — no download needed</a:t>
            </a:r>
          </a:p>
          <a:p>
            <a:pPr/>
            <a:r>
              <a:t>1,797 images of handwritten digits (0–9)</a:t>
            </a:r>
          </a:p>
          <a:p>
            <a:pPr/>
            <a:r>
              <a:t>Each image: 8×8 pixels, brightness values 0 (white) to 16 (full ink)</a:t>
            </a:r>
          </a:p>
          <a:p>
            <a:pPr/>
            <a:r>
              <a:t>Each image is flattened to 64 numbers → one row in the dataset</a:t>
            </a:r>
          </a:p>
          <a:p>
            <a:pPr/>
            <a:r>
              <a:t>64 features (pixel values) + 1 label (digit 0–9) per sample</a:t>
            </a:r>
          </a:p>
          <a:p>
            <a:pPr/>
            <a:r>
              <a:t>Balanced: ~180 samples per class — no imbalance problem here</a:t>
            </a:r>
          </a:p>
          <a:p>
            <a:pPr/>
            <a:r>
              <a:t>A classic benchmark — simple enough to learn on, complex enough to be real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Model Actually Sees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 human sees a shape — a "0", a "7", a "3"</a:t>
            </a:r>
          </a:p>
          <a:p>
            <a:pPr/>
            <a:r>
              <a:t>The model never sees an image</a:t>
            </a:r>
          </a:p>
          <a:p>
            <a:pPr/>
            <a:r>
              <a:t>It receives a flat row of 64 numbers:</a:t>
            </a:r>
          </a:p>
          <a:p>
            <a:pPr lvl="1"/>
            <a:r>
              <a:t>[0, 0, 5, 13, 9, 1, 0, 0, 0, 0, 13, 15, 10, 15, 5, 0, ...]</a:t>
            </a:r>
          </a:p>
          <a:p>
            <a:pPr/>
            <a:r>
              <a:t>This is the most important shift in ML thinking:</a:t>
            </a:r>
          </a:p>
          <a:p>
            <a:pPr lvl="1"/>
            <a:r>
              <a:t>Everything is numbers — images, text, logs, packets</a:t>
            </a:r>
          </a:p>
          <a:p>
            <a:pPr lvl="1"/>
            <a:r>
              <a:t>Raw data → extract numerical features → feed to model</a:t>
            </a:r>
          </a:p>
          <a:p>
            <a:pPr/>
            <a:r>
              <a:t>The same structure applies to every security use case:</a:t>
            </a:r>
          </a:p>
          <a:p>
            <a:pPr lvl="1"/>
            <a:r>
              <a:t>URL features, packet headers, log fields, file metadata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Features vs Labels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Features (X) and Labels (y) — The Fundamental 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Every supervised ML problem has exactly two things:</a:t>
            </a:r>
          </a:p>
          <a:p>
            <a:pPr lvl="1"/>
            <a:r>
              <a:t>Features (X) — what you measure about each sample (the inputs)</a:t>
            </a:r>
          </a:p>
          <a:p>
            <a:pPr lvl="1"/>
            <a:r>
              <a:t>Labels (y) — the correct answer for each sample (what to predict)</a:t>
            </a:r>
          </a:p>
          <a:p>
            <a:pPr/>
            <a:r>
              <a:t>The structure is always the same — only the domain changes:</a:t>
            </a:r>
          </a:p>
          <a:p>
            <a:pPr lvl="1"/>
            <a:r>
              <a:t>Digit recognition:   64 pixel values  →  digit 0–9</a:t>
            </a:r>
          </a:p>
          <a:p>
            <a:pPr lvl="1"/>
            <a:r>
              <a:t>Phishing detection:  URL length, # dots, has @  →  phishing 0/1</a:t>
            </a:r>
          </a:p>
          <a:p>
            <a:pPr lvl="1"/>
            <a:r>
              <a:t>Network intrusion:   bytes sent, duration, SYN flags  →  malicious 0/1</a:t>
            </a:r>
          </a:p>
          <a:p>
            <a:pPr lvl="1"/>
            <a:r>
              <a:t>Malware classification:  file size, entropy, imports  →  family name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Pattern: Raw Data → Features → Model →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Step 1: Start with raw data (logs, images, URLs, packets)</a:t>
            </a:r>
          </a:p>
          <a:p>
            <a:pPr/>
            <a:r>
              <a:t>Step 2: Extract features (X) — turn raw data into numbers</a:t>
            </a:r>
          </a:p>
          <a:p>
            <a:pPr/>
            <a:r>
              <a:t>Step 3: Identify labels (y) — what are you predicting?</a:t>
            </a:r>
          </a:p>
          <a:p>
            <a:pPr/>
            <a:r>
              <a:t>Step 4: model.fit(X, y) — the model finds the pattern</a:t>
            </a:r>
          </a:p>
          <a:p>
            <a:pPr/>
            <a:r>
              <a:t>Step 5: model.predict(X_new) — apply the pattern to new data</a:t>
            </a:r>
          </a:p>
          <a:p>
            <a:pPr/>
            <a:r>
              <a:t>This 5-step pattern applies to every ML project</a:t>
            </a:r>
          </a:p>
          <a:p>
            <a:pPr/>
            <a:r>
              <a:t>In the workshop, you will do all 5 on the digits dataset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Vocabulary &amp;</a:t>
            </a:r>
          </a:p>
          <a:p>
            <a:r>
              <a:t>Python Tools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Feature — one measurable input (URL length, bytes sent, pixel brightness)</a:t>
            </a:r>
          </a:p>
          <a:p>
            <a:pPr/>
            <a:r>
              <a:t>Label / Target — the answer the model predicts (phishing=1, legit=0)</a:t>
            </a:r>
          </a:p>
          <a:p>
            <a:pPr/>
            <a:r>
              <a:t>Sample — one row of data (one URL, one connection, one image)</a:t>
            </a:r>
          </a:p>
          <a:p>
            <a:pPr/>
            <a:r>
              <a:t>Training set — the data the model learns from</a:t>
            </a:r>
          </a:p>
          <a:p>
            <a:pPr/>
            <a:r>
              <a:t>Test set — held-back data to evaluate the model honestly</a:t>
            </a:r>
          </a:p>
          <a:p>
            <a:pPr/>
            <a:r>
              <a:t>Weights — the numbers inside the model, adjusted during training</a:t>
            </a:r>
          </a:p>
          <a:p>
            <a:pPr/>
            <a:r>
              <a:t>Loss — how wrong the predictions are; training minimises this</a:t>
            </a:r>
          </a:p>
          <a:p>
            <a:pPr/>
            <a:r>
              <a:t>Epoch — one full pass through the training data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More Key 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Model — the mathematical function learned from training data</a:t>
            </a:r>
          </a:p>
          <a:p>
            <a:pPr/>
            <a:r>
              <a:t>Overfitting — model memorised training data but fails on new data</a:t>
            </a:r>
          </a:p>
          <a:p>
            <a:pPr/>
            <a:r>
              <a:t>Underfitting — model is too simple to capture the real pattern</a:t>
            </a:r>
          </a:p>
          <a:p>
            <a:pPr/>
            <a:r>
              <a:t>Class imbalance — one label is far more common than others</a:t>
            </a:r>
          </a:p>
          <a:p>
            <a:pPr lvl="1"/>
            <a:r>
              <a:t>In security: 99% benign, 1% attack is typical</a:t>
            </a:r>
          </a:p>
          <a:p>
            <a:pPr/>
            <a:r>
              <a:t>EDA — Exploratory Data Analysis — inspecting data before modelling</a:t>
            </a:r>
          </a:p>
          <a:p>
            <a:pPr/>
            <a:r>
              <a:t>Bunch — scikit-learn's container: .data (X), .target (y), .DESCR</a:t>
            </a:r>
          </a:p>
          <a:p>
            <a:pPr/>
            <a:r>
              <a:t>DataFrame — pandas table with named columns and easy filtering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Python Libraries You Will Use in Every Lesson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NumPy (import numpy as np)</a:t>
            </a:r>
          </a:p>
          <a:p>
            <a:pPr lvl="1"/>
            <a:r>
              <a:t>Fast numerical arrays — the foundation of all ML in Python</a:t>
            </a:r>
          </a:p>
          <a:p>
            <a:pPr lvl="1"/>
            <a:r>
              <a:t>ndarray: 1D = list of numbers, 2D = table, 3D = stack of tables</a:t>
            </a:r>
          </a:p>
          <a:p>
            <a:pPr/>
            <a:r>
              <a:t>pandas (import pandas as pd)</a:t>
            </a:r>
          </a:p>
          <a:p>
            <a:pPr lvl="1"/>
            <a:r>
              <a:t>DataFrames for tabular data — .head(), .describe(), .value_counts()</a:t>
            </a:r>
          </a:p>
          <a:p>
            <a:pPr lvl="1"/>
            <a:r>
              <a:t>Named columns, easy filtering, consistent interface with sklearn</a:t>
            </a:r>
          </a:p>
          <a:p>
            <a:pPr/>
            <a:r>
              <a:t>Matplotlib (import matplotlib.pyplot as plt)</a:t>
            </a:r>
          </a:p>
          <a:p>
            <a:pPr lvl="1"/>
            <a:r>
              <a:t>Plotting: scatter, line, bar, image grids, heatmaps</a:t>
            </a:r>
          </a:p>
          <a:p>
            <a:pPr/>
            <a:r>
              <a:t>scikit-learn (import sklearn)</a:t>
            </a:r>
          </a:p>
          <a:p>
            <a:pPr lvl="1"/>
            <a:r>
              <a:t>ML algorithms, built-in datasets, evaluation metrics, preprocessing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Workshop</a:t>
            </a:r>
          </a:p>
          <a:p>
            <a:r>
              <a:t>5 Hands-On Exercises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— Full EDA on the Digits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Before training any model, you must understand your data</a:t>
            </a:r>
          </a:p>
          <a:p>
            <a:pPr/>
            <a:r>
              <a:t>This workshop walks through the full EDA sequence</a:t>
            </a:r>
          </a:p>
          <a:p>
            <a:pPr/>
            <a:r>
              <a:t>The same sequence you will run at the start of every ML project</a:t>
            </a:r>
          </a:p>
          <a:p>
            <a:pPr/>
            <a:r>
              <a:t>Exercise 1: Load the dataset — Bunch, DataFrame, features vs labels</a:t>
            </a:r>
          </a:p>
          <a:p>
            <a:pPr/>
            <a:r>
              <a:t>Exercise 2: Shape and statistics — .describe(), missing values, zero-variance</a:t>
            </a:r>
          </a:p>
          <a:p>
            <a:pPr/>
            <a:r>
              <a:t>Exercise 3: Class balance — the naive accuracy trap, imbalance ratio</a:t>
            </a:r>
          </a:p>
          <a:p>
            <a:pPr/>
            <a:r>
              <a:t>Exercise 4: Visualise — image grids, average prototypes per class</a:t>
            </a:r>
          </a:p>
          <a:p>
            <a:pPr/>
            <a:r>
              <a:t>Exercise 5: What the model sees — number grids, correlations, security analogy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Each exercise folder contains three files:</a:t>
            </a:r>
          </a:p>
          <a:p>
            <a:pPr lvl="1"/>
            <a:r>
              <a:t>lecture.md — concept explanation (read first)</a:t>
            </a:r>
          </a:p>
          <a:p>
            <a:pPr lvl="1"/>
            <a:r>
              <a:t>handson.md — step-by-step lab instructions</a:t>
            </a:r>
          </a:p>
          <a:p>
            <a:pPr lvl="1"/>
            <a:r>
              <a:t>solution_*.py — reference implementation (open last)</a:t>
            </a:r>
          </a:p>
          <a:p>
            <a:pPr/>
            <a:r>
              <a:t>Workflow for each exercise:</a:t>
            </a:r>
          </a:p>
          <a:p>
            <a:pPr lvl="1"/>
            <a:r>
              <a:t>1.  Read the lecture — understand the concept and methods</a:t>
            </a:r>
          </a:p>
          <a:p>
            <a:pPr lvl="1"/>
            <a:r>
              <a:t>2.  Follow the handson — build your script step by step</a:t>
            </a:r>
          </a:p>
          <a:p>
            <a:pPr lvl="1"/>
            <a:r>
              <a:t>3.  Run your script and verify output matches expected results</a:t>
            </a:r>
          </a:p>
          <a:p>
            <a:pPr lvl="1"/>
            <a:r>
              <a:t>4.  Compare against the solution when done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ML finds patterns from labelled examples — no hand-crafted rules</a:t>
            </a:r>
          </a:p>
          <a:p>
            <a:pPr/>
            <a:r>
              <a:t>Supervised learning: features (X) → label (y). Most common in security</a:t>
            </a:r>
          </a:p>
          <a:p>
            <a:pPr/>
            <a:r>
              <a:t>Training = adjusting weights to minimise loss over many epochs</a:t>
            </a:r>
          </a:p>
          <a:p>
            <a:pPr/>
            <a:r>
              <a:t>Every ML project: data → EDA → split → train → evaluate → tune → deploy</a:t>
            </a:r>
          </a:p>
          <a:p>
            <a:pPr/>
            <a:r>
              <a:t>Never evaluate on training data — always use a held-out test set</a:t>
            </a:r>
          </a:p>
          <a:p>
            <a:pPr/>
            <a:r>
              <a:t>EDA catches silent failures: class imbalance, missing values, leakage</a:t>
            </a:r>
          </a:p>
          <a:p>
            <a:pPr/>
            <a:r>
              <a:t>Everything is numbers — images, text, logs all become feature rows</a:t>
            </a:r>
          </a:p>
          <a:p>
            <a:pPr/>
            <a:r>
              <a:t>Next: 5 exercises to do the full EDA yourself on the digits dataset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 → Lesson 1.2: Linear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What is Machine Learning?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