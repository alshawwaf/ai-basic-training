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1.4 — Stage 1: Classic Machine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Decision Trees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Security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Learning rules from data — the flowchart model</a:t>
            </a:r>
          </a:p>
          <a:p>
            <a:pPr/>
            <a:r>
              <a:t>How splits are chosen — Gini impurity</a:t>
            </a:r>
          </a:p>
          <a:p>
            <a:pPr/>
            <a:r>
              <a:t>Real-life: network traffic classifier</a:t>
            </a:r>
          </a:p>
          <a:p>
            <a:pPr/>
            <a:r>
              <a:t>Feature importance — which features matter?</a:t>
            </a:r>
          </a:p>
          <a:p>
            <a:pPr/>
            <a:r>
              <a:t>Overfitting and max_depth control</a:t>
            </a:r>
          </a:p>
          <a:p>
            <a:pPr/>
            <a:r>
              <a:t>Why trees matter in security</a:t>
            </a:r>
          </a:p>
          <a:p>
            <a:pPr/>
            <a:r>
              <a:t>Workshop: 4 hands-on exercises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Rules</a:t>
            </a:r>
          </a:p>
          <a:p>
            <a:r>
              <a:t>from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— A Flowchart of Learned Yes/No Questions</a:t>
            </a:r>
          </a:p>
        </p:txBody>
      </p:sp>
      <p:pic>
        <p:nvPicPr>
          <p:cNvPr id="3" name="Picture 2" descr="d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10058400" cy="59135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— Interpretability is a feature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The only ML model where you</a:t>
            </a:r>
          </a:p>
          <a:p>
            <a:r>
              <a:t>can print the learned rules</a:t>
            </a:r>
          </a:p>
          <a:p>
            <a:r>
              <a:t>as a readable flowchart.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Trees Special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The model learns which questions to ask</a:t>
            </a:r>
          </a:p>
          <a:p>
            <a:pPr/>
            <a:r>
              <a:t>And at what thresholds to split</a:t>
            </a:r>
          </a:p>
          <a:p>
            <a:pPr/>
            <a:r>
              <a:t>No hand-crafted rules needed</a:t>
            </a:r>
          </a:p>
          <a:p>
            <a:pPr/>
            <a:r>
              <a:t>The tree discovers them from data</a:t>
            </a:r>
          </a:p>
          <a:p>
            <a:pPr/>
            <a:r>
              <a:t>You can read the result and see exactly</a:t>
            </a:r>
          </a:p>
          <a:p>
            <a:pPr lvl="1"/>
            <a:r>
              <a:t>why each sample was classified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How Splits</a:t>
            </a:r>
          </a:p>
          <a:p>
            <a:r>
              <a:t>Are Chosen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Gini Impurity — Measuring Split Quality</a:t>
            </a:r>
          </a:p>
        </p:txBody>
      </p:sp>
      <p:pic>
        <p:nvPicPr>
          <p:cNvPr id="3" name="Picture 2" descr="dt_g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38597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Splitting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 each node, the tree tries every possible split on every feature</a:t>
            </a:r>
          </a:p>
          <a:p>
            <a:pPr/>
            <a:r>
              <a:t>It picks the split that reduces impurity the most</a:t>
            </a:r>
          </a:p>
          <a:p>
            <a:pPr/>
            <a:r>
              <a:t>Gini = 0.0 → perfectly pure node (all one class)</a:t>
            </a:r>
          </a:p>
          <a:p>
            <a:pPr/>
            <a:r>
              <a:t>Gini = 0.5 → worst case (50/50 mix, no information)</a:t>
            </a:r>
          </a:p>
          <a:p>
            <a:pPr/>
            <a:r>
              <a:t>The tree greedily picks the best split — this is called information gain</a:t>
            </a:r>
          </a:p>
          <a:p>
            <a:pPr/>
            <a:r>
              <a:t>Result: an automatically learned set of if/else rules</a:t>
            </a:r>
          </a:p>
          <a:p>
            <a:pPr/>
            <a:r>
              <a:t>No maths needed from you — sklearn handles it 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Network Traffic</a:t>
            </a:r>
          </a:p>
          <a:p>
            <a:r>
              <a:t>Classifier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Signatures in Network Features</a:t>
            </a:r>
          </a:p>
        </p:txBody>
      </p:sp>
      <p:pic>
        <p:nvPicPr>
          <p:cNvPr id="3" name="Picture 2" descr="dt_att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41595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— Which Network Features Matter Most?</a:t>
            </a:r>
          </a:p>
        </p:txBody>
      </p:sp>
      <p:pic>
        <p:nvPicPr>
          <p:cNvPr id="3" name="Picture 2" descr="d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45078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Overfitting &amp;</a:t>
            </a:r>
          </a:p>
          <a:p>
            <a:r>
              <a:t>Tree Depth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— Train vs Test Accuracy at Different Depths</a:t>
            </a:r>
          </a:p>
        </p:txBody>
      </p:sp>
      <p:pic>
        <p:nvPicPr>
          <p:cNvPr id="3" name="Picture 2" descr="dt_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4992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Too Deep (overfitting)</a:t>
            </a:r>
          </a:p>
          <a:p>
            <a:pPr/>
          </a:p>
          <a:p>
            <a:pPr/>
            <a:r>
              <a:t>Memorises training data perfectly</a:t>
            </a:r>
          </a:p>
          <a:p>
            <a:pPr/>
            <a:r>
              <a:t>Creates a rule for every edge case</a:t>
            </a:r>
          </a:p>
          <a:p>
            <a:pPr/>
            <a:r>
              <a:t>Perfect training accuracy</a:t>
            </a:r>
          </a:p>
          <a:p>
            <a:pPr/>
            <a:r>
              <a:t>Poor test accuracy</a:t>
            </a:r>
          </a:p>
          <a:p>
            <a:pPr/>
            <a:r>
              <a:t>The gap widens with depth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pPr/>
            <a:r>
              <a:t>Controls</a:t>
            </a:r>
          </a:p>
          <a:p>
            <a:pPr/>
          </a:p>
          <a:p>
            <a:pPr/>
            <a:r>
              <a:t>max_depth — limits tree growth</a:t>
            </a:r>
          </a:p>
          <a:p>
            <a:pPr/>
            <a:r>
              <a:t>min_samples_split — minimum samples to split</a:t>
            </a:r>
          </a:p>
          <a:p>
            <a:pPr/>
          </a:p>
          <a:p>
            <a:pPr/>
            <a:r>
              <a:t>Finding the sweet spot is the key task</a:t>
            </a:r>
          </a:p>
          <a:p>
            <a:pPr/>
            <a:r>
              <a:t>Too shallow = underfitting</a:t>
            </a:r>
          </a:p>
          <a:p>
            <a:pPr/>
            <a:r>
              <a:t>Too deep = overfitting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— 4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Exercise 1: How trees make decisions — Gini impurity, information gain</a:t>
            </a:r>
          </a:p>
          <a:p>
            <a:pPr/>
            <a:r>
              <a:t>Exercise 2: Train and read the tree — plot_tree(), interpret learned rules</a:t>
            </a:r>
          </a:p>
          <a:p>
            <a:pPr/>
            <a:r>
              <a:t>Exercise 3: Feature importance — which network features matter most</a:t>
            </a:r>
          </a:p>
          <a:p>
            <a:pPr/>
            <a:r>
              <a:t>Exercise 4: Depth and overfitting — max_depth sweep, train vs test accuracy</a:t>
            </a:r>
          </a:p>
          <a:p>
            <a:pPr/>
          </a:p>
          <a:p>
            <a:pPr/>
            <a:r>
              <a:t>Each exercise: lecture.md → handson.md → solution_decision_trees.py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Decision trees learn if/else rules from data — no hand-crafting needed</a:t>
            </a:r>
          </a:p>
          <a:p>
            <a:pPr/>
            <a:r>
              <a:t>Splits are chosen by Gini impurity to maximise class separation</a:t>
            </a:r>
          </a:p>
          <a:p>
            <a:pPr/>
            <a:r>
              <a:t>feature_importances_ reveals which inputs drive the model's decisions</a:t>
            </a:r>
          </a:p>
          <a:p>
            <a:pPr/>
            <a:r>
              <a:t>max_depth controls the overfitting/underfitting tradeoff</a:t>
            </a:r>
          </a:p>
          <a:p>
            <a:pPr/>
            <a:r>
              <a:t>Trees are interpretable, need no scaling, and handle non-linear patterns</a:t>
            </a:r>
          </a:p>
          <a:p>
            <a:pPr/>
            <a:r>
              <a:t>They are the building block for Random Forests in Stage 2</a:t>
            </a:r>
          </a:p>
          <a:p>
            <a:pPr/>
            <a:r>
              <a:t>Next: Lesson 1.5 — Model Evaluation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 → Lesson 1.5: Model Evaluation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Decision Trees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