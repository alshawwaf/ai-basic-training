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Calibri"/>
              </a:rP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Lesson 1.4  | 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Decision Trees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Learning Rules from Data  -  Network Traffic 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How decision trees work - a flowchart of learned rules</a:t>
            </a:r>
          </a:p>
          <a:p>
            <a:r>
              <a:rPr sz="1600">
                <a:latin typeface="Calibri"/>
              </a:rPr>
              <a:t>Gini impurity - how splits are chosen</a:t>
            </a:r>
          </a:p>
          <a:p>
            <a:r>
              <a:rPr sz="1600">
                <a:latin typeface="Calibri"/>
              </a:rPr>
              <a:t>Network attack signatures - the security scenario</a:t>
            </a:r>
          </a:p>
          <a:p>
            <a:r>
              <a:rPr sz="1600">
                <a:latin typeface="Calibri"/>
              </a:rPr>
              <a:t>Feature importance - which features matter most</a:t>
            </a:r>
          </a:p>
          <a:p>
            <a:r>
              <a:rPr sz="1600">
                <a:latin typeface="Calibri"/>
              </a:rPr>
              <a:t>Overfitting and how to control 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How Decision</a:t>
            </a:r>
          </a:p>
          <a:p>
            <a:r>
              <a:rPr b="1">
                <a:latin typeface="Calibri"/>
              </a:rPr>
              <a:t>Trees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A Flowchart of Learned Yes/No Questions</a:t>
            </a:r>
          </a:p>
        </p:txBody>
      </p:sp>
      <p:pic>
        <p:nvPicPr>
          <p:cNvPr id="3" name="Picture 2" descr="tre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7108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A decision tree is the only</a:t>
            </a:r>
          </a:p>
          <a:p>
            <a:r>
              <a:rPr sz="1400">
                <a:latin typeface="Calibri"/>
              </a:rPr>
              <a:t>model so far that you can</a:t>
            </a:r>
          </a:p>
          <a:p>
            <a:r>
              <a:rPr sz="1400">
                <a:latin typeface="Calibri"/>
              </a:rPr>
              <a:t>print and read like a</a:t>
            </a:r>
          </a:p>
          <a:p>
            <a:r>
              <a:rPr sz="1400">
                <a:latin typeface="Calibri"/>
              </a:rPr>
              <a:t>flowchart.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Great for security audits.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Makes Trees Special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The model learns which questions to ask</a:t>
            </a:r>
          </a:p>
          <a:p>
            <a:r>
              <a:rPr sz="1400">
                <a:latin typeface="Calibri"/>
              </a:rPr>
              <a:t>  and at what thresholds to split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No feature scaling needed</a:t>
            </a:r>
          </a:p>
          <a:p>
            <a:r>
              <a:rPr sz="1400">
                <a:latin typeface="Calibri"/>
              </a:rPr>
              <a:t>  (unlike logistic regression)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Handles non-linear patterns</a:t>
            </a:r>
          </a:p>
          <a:p>
            <a:r>
              <a:rPr sz="1400">
                <a:latin typeface="Calibri"/>
              </a:rPr>
              <a:t>  (combinations of thresholds)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The rules are human-readable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How Splits</a:t>
            </a:r>
          </a:p>
          <a:p>
            <a:r>
              <a:rPr b="1">
                <a:latin typeface="Calibri"/>
              </a:rPr>
              <a:t>Are Chosen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Gini Impurity - Measuring Split Quality</a:t>
            </a:r>
          </a:p>
        </p:txBody>
      </p:sp>
      <p:pic>
        <p:nvPicPr>
          <p:cNvPr id="3" name="Picture 2" descr="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0180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Splitting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At each node, the tree tries every possible split: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  For each feature (bytes_sent, duration, ports, ...):</a:t>
            </a:r>
          </a:p>
          <a:p>
            <a:r>
              <a:rPr sz="1500">
                <a:latin typeface="Calibri"/>
              </a:rPr>
              <a:t>    For each possible threshold value:</a:t>
            </a:r>
          </a:p>
          <a:p>
            <a:r>
              <a:rPr sz="1500">
                <a:latin typeface="Calibri"/>
              </a:rPr>
              <a:t>      Split the data into two groups</a:t>
            </a:r>
          </a:p>
          <a:p>
            <a:r>
              <a:rPr sz="1500">
                <a:latin typeface="Calibri"/>
              </a:rPr>
              <a:t>      Calculate Gini impurity of each group</a:t>
            </a:r>
          </a:p>
          <a:p>
            <a:r>
              <a:rPr sz="1500">
                <a:latin typeface="Calibri"/>
              </a:rPr>
              <a:t>      Pick the split with lowest weighted Gini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Repeat recursively until stopping condition is met</a:t>
            </a:r>
          </a:p>
          <a:p>
            <a:r>
              <a:rPr sz="1500">
                <a:latin typeface="Calibri"/>
              </a:rPr>
              <a:t>  (max_depth, min_samples, or pure nodes)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Network Traffic</a:t>
            </a:r>
          </a:p>
          <a:p>
            <a:r>
              <a:rPr b="1">
                <a:latin typeface="Calibri"/>
              </a:rPr>
              <a:t>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Three Attack Types - Distinct Feature Signatures</a:t>
            </a:r>
          </a:p>
        </p:txBody>
      </p:sp>
      <p:pic>
        <p:nvPicPr>
          <p:cNvPr id="3" name="Picture 2" descr="attack_si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423528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Feature Importance - Which Network Features Matter Most?</a:t>
            </a:r>
          </a:p>
        </p:txBody>
      </p:sp>
      <p:pic>
        <p:nvPicPr>
          <p:cNvPr id="3" name="Picture 2" descr="feat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440040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Code - Training and Visualising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from sklearn.tree import DecisionTreeClassifier, plot_tree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model = DecisionTreeClassifier(max_depth=4, random_state=42)</a:t>
            </a:r>
          </a:p>
          <a:p>
            <a:r>
              <a:rPr sz="1500">
                <a:latin typeface="Calibri"/>
              </a:rPr>
              <a:t>model.fit(X_train, y_train)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# See the actual rules the model learned:</a:t>
            </a:r>
          </a:p>
          <a:p>
            <a:r>
              <a:rPr sz="1500">
                <a:latin typeface="Calibri"/>
              </a:rPr>
              <a:t>plot_tree(model, feature_names=feature_names,</a:t>
            </a:r>
          </a:p>
          <a:p>
            <a:r>
              <a:rPr sz="1500">
                <a:latin typeface="Calibri"/>
              </a:rPr>
              <a:t>          class_names=['Benign','PortScan','Exfil','DoS'],</a:t>
            </a:r>
          </a:p>
          <a:p>
            <a:r>
              <a:rPr sz="1500">
                <a:latin typeface="Calibri"/>
              </a:rPr>
              <a:t>          filled=True, fontsize=8)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# Which features matter most?</a:t>
            </a:r>
          </a:p>
          <a:p>
            <a:r>
              <a:rPr sz="1500">
                <a:latin typeface="Calibri"/>
              </a:rPr>
              <a:t>print(model.feature_importances_)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Overfitting and</a:t>
            </a:r>
          </a:p>
          <a:p>
            <a:r>
              <a:rPr b="1">
                <a:latin typeface="Calibri"/>
              </a:rPr>
              <a:t>How to Control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Train vs Test Accuracy at Different Depths</a:t>
            </a:r>
          </a:p>
        </p:txBody>
      </p:sp>
      <p:pic>
        <p:nvPicPr>
          <p:cNvPr id="3" name="Picture 2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972800" cy="49031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Two Controls to Prevent Overfitting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max_depth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Limits how deep the tree grows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Low depth (2-3):</a:t>
            </a:r>
          </a:p>
          <a:p>
            <a:r>
              <a:rPr sz="1400">
                <a:latin typeface="Calibri"/>
              </a:rPr>
              <a:t>  Simple, may underfit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High depth (15+):</a:t>
            </a:r>
          </a:p>
          <a:p>
            <a:r>
              <a:rPr sz="1400">
                <a:latin typeface="Calibri"/>
              </a:rPr>
              <a:t>  Complex, will overfit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Sweet spot: usually 4-8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min_samples_split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Minimum samples to split a node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High value (50+):</a:t>
            </a:r>
          </a:p>
          <a:p>
            <a:r>
              <a:rPr sz="1400">
                <a:latin typeface="Calibri"/>
              </a:rPr>
              <a:t>  Prevents tiny leaf nodes</a:t>
            </a:r>
          </a:p>
          <a:p>
            <a:r>
              <a:rPr sz="1400">
                <a:latin typeface="Calibri"/>
              </a:rPr>
              <a:t>  More generalisation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Default is 2 (very permissive)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Try 10-50 for security data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Comparison</a:t>
            </a:r>
          </a:p>
          <a:p>
            <a:r>
              <a:rPr b="1">
                <a:latin typeface="Calibri"/>
              </a:rP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How Decision Trees Compare to Previous Models</a:t>
            </a:r>
          </a:p>
        </p:txBody>
      </p:sp>
      <p:pic>
        <p:nvPicPr>
          <p:cNvPr id="3" name="Picture 2" descr="tree_vs_oth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343500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Workshop: 4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Exercise 1:  How trees split - Gini impurity, information gain</a:t>
            </a:r>
          </a:p>
          <a:p>
            <a:r>
              <a:rPr sz="1600">
                <a:latin typeface="Calibri"/>
              </a:rPr>
              <a:t>Exercise 2:  Train the tree and read the rules with plot_tree()</a:t>
            </a:r>
          </a:p>
          <a:p>
            <a:r>
              <a:rPr sz="1600">
                <a:latin typeface="Calibri"/>
              </a:rPr>
              <a:t>Exercise 3:  Feature importance - which network features matter</a:t>
            </a:r>
          </a:p>
          <a:p>
            <a:r>
              <a:rPr sz="1600">
                <a:latin typeface="Calibri"/>
              </a:rPr>
              <a:t>Exercise 4:  Depth sweep - find the sweet spot, see overfitting live</a:t>
            </a:r>
          </a:p>
          <a:p>
            <a:r>
              <a:rPr sz="1600">
                <a:latin typeface="Calibri"/>
              </a:rPr>
              <a:t/>
            </a:r>
          </a:p>
          <a:p>
            <a:r>
              <a:rPr sz="1600">
                <a:latin typeface="Calibri"/>
              </a:rPr>
              <a:t>Each exercise: lecture.md (concept) + handson.md (build it yourself)</a:t>
            </a:r>
          </a:p>
          <a:p>
            <a:r>
              <a:rPr sz="1600">
                <a:latin typeface="Calibri"/>
              </a:rPr>
              <a:t>Solution files provided to check your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Decision trees learn if/else rules from data - like a flowchart</a:t>
            </a:r>
          </a:p>
          <a:p>
            <a:r>
              <a:rPr sz="1500">
                <a:latin typeface="Calibri"/>
              </a:rPr>
              <a:t>Gini impurity measures split quality: lower = purer = better</a:t>
            </a:r>
          </a:p>
          <a:p>
            <a:r>
              <a:rPr sz="1500">
                <a:latin typeface="Calibri"/>
              </a:rPr>
              <a:t>Feature importance reveals which inputs the tree relies on most</a:t>
            </a:r>
          </a:p>
          <a:p>
            <a:r>
              <a:rPr sz="1500">
                <a:latin typeface="Calibri"/>
              </a:rPr>
              <a:t>Trees handle non-linear patterns without feature scaling</a:t>
            </a:r>
          </a:p>
          <a:p>
            <a:r>
              <a:rPr sz="1500">
                <a:latin typeface="Calibri"/>
              </a:rPr>
              <a:t>max_depth controls overfitting - find the sweet spot (usually 4-8)</a:t>
            </a:r>
          </a:p>
          <a:p>
            <a:r>
              <a:rPr sz="1500">
                <a:latin typeface="Calibri"/>
              </a:rPr>
              <a:t>Next: Model Evaluation - why accuracy alone is dangerous in security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Key</a:t>
            </a:r>
          </a:p>
          <a:p>
            <a:r>
              <a:rPr b="1">
                <a:latin typeface="Calibri"/>
              </a:rPr>
              <a:t>Takeaways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Next:  Lesson 1.5 - Model Evaluation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Decision Trees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