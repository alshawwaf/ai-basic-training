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Lesson 2.2  |  Stage 2: Intermediate ML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Random Forests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Wisdom of the Crowd  -  Ensemble Learning for Malware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1600"/>
              <a:t>From one tree to many - the ensemble concept</a:t>
            </a:r>
          </a:p>
          <a:p>
            <a:r>
              <a:rPr sz="1600"/>
              <a:t>How Random Forests work - bootstrap + feature subsampling</a:t>
            </a:r>
          </a:p>
          <a:p>
            <a:r>
              <a:rPr sz="1600"/>
              <a:t>Single tree vs forest - why ensembles win</a:t>
            </a:r>
          </a:p>
          <a:p>
            <a:r>
              <a:rPr sz="1600"/>
              <a:t>The malware classifier - PE file features</a:t>
            </a:r>
          </a:p>
          <a:p>
            <a:r>
              <a:rPr sz="1600"/>
              <a:t>OOB error, learning curves, and tuning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From One Tree</a:t>
            </a:r>
          </a:p>
          <a:p>
            <a:r>
              <a:t>to Many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Forest: Train Many Trees, Take a Vote</a:t>
            </a:r>
          </a:p>
        </p:txBody>
      </p:sp>
      <p:pic>
        <p:nvPicPr>
          <p:cNvPr id="3" name="Picture 2" descr="ensem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11612880" cy="52189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/>
              <a:t>A single tree is one analyst.</a:t>
            </a:r>
          </a:p>
          <a:p>
            <a:r>
              <a:rPr sz="1400"/>
              <a:t>A Random Forest is 100 analysts</a:t>
            </a:r>
          </a:p>
          <a:p>
            <a:r>
              <a:rPr sz="1400"/>
              <a:t>voting.</a:t>
            </a:r>
          </a:p>
          <a:p>
            <a:r>
              <a:rPr sz="1400"/>
              <a:t/>
            </a:r>
          </a:p>
          <a:p>
            <a:r>
              <a:rPr sz="1400"/>
              <a:t>The crowd averages out</a:t>
            </a:r>
          </a:p>
          <a:p>
            <a:r>
              <a:rPr sz="1400"/>
              <a:t>individual mistakes.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Two Sources of Randomness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/>
              <a:t>1. Bootstrap sampling</a:t>
            </a:r>
          </a:p>
          <a:p>
            <a:r>
              <a:rPr sz="1400"/>
              <a:t>   Each tree sees a random 63% of data</a:t>
            </a:r>
          </a:p>
          <a:p>
            <a:r>
              <a:rPr sz="1400"/>
              <a:t>   (sampling with replacement)</a:t>
            </a:r>
          </a:p>
          <a:p>
            <a:r>
              <a:rPr sz="1400"/>
              <a:t/>
            </a:r>
          </a:p>
          <a:p>
            <a:r>
              <a:rPr sz="1400"/>
              <a:t>2. Random feature subsets</a:t>
            </a:r>
          </a:p>
          <a:p>
            <a:r>
              <a:rPr sz="1400"/>
              <a:t>   At each split, only sqrt(n) features</a:t>
            </a:r>
          </a:p>
          <a:p>
            <a:r>
              <a:rPr sz="1400"/>
              <a:t>   considered (not all of them)</a:t>
            </a:r>
          </a:p>
          <a:p>
            <a:r>
              <a:rPr sz="1400"/>
              <a:t/>
            </a:r>
          </a:p>
          <a:p>
            <a:r>
              <a:rPr sz="1400"/>
              <a:t>Result: diverse trees that make</a:t>
            </a:r>
          </a:p>
          <a:p>
            <a:r>
              <a:rPr sz="1400"/>
              <a:t>different mistakes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Single Tree</a:t>
            </a:r>
          </a:p>
          <a:p>
            <a:r>
              <a:t>vs Forest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Ensembles Beat Individual Trees</a:t>
            </a:r>
          </a:p>
        </p:txBody>
      </p:sp>
      <p:pic>
        <p:nvPicPr>
          <p:cNvPr id="3" name="Picture 2" descr="tree_vs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247120" cy="34350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Malware</a:t>
            </a:r>
          </a:p>
          <a:p>
            <a:r>
              <a:t>Classifier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 File Feature Importance - What Matters Most?</a:t>
            </a:r>
          </a:p>
        </p:txBody>
      </p:sp>
      <p:pic>
        <p:nvPicPr>
          <p:cNvPr id="3" name="Picture 2" descr="malware_f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72800" cy="44004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Code - Training a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from sklearn.ensemble import RandomForestClassifier</a:t>
            </a:r>
          </a:p>
          <a:p>
            <a:r>
              <a:rPr sz="1500"/>
              <a:t/>
            </a:r>
          </a:p>
          <a:p>
            <a:r>
              <a:rPr sz="1500"/>
              <a:t>model = RandomForestClassifier(</a:t>
            </a:r>
          </a:p>
          <a:p>
            <a:r>
              <a:rPr sz="1500"/>
              <a:t>    n_estimators=200,     # 200 trees</a:t>
            </a:r>
          </a:p>
          <a:p>
            <a:r>
              <a:rPr sz="1500"/>
              <a:t>    max_depth=None,       # let trees grow fully</a:t>
            </a:r>
          </a:p>
          <a:p>
            <a:r>
              <a:rPr sz="1500"/>
              <a:t>    oob_score=True,       # free validation estimate</a:t>
            </a:r>
          </a:p>
          <a:p>
            <a:r>
              <a:rPr sz="1500"/>
              <a:t>    n_jobs=-1,            # use all CPU cores</a:t>
            </a:r>
          </a:p>
          <a:p>
            <a:r>
              <a:rPr sz="1500"/>
              <a:t>    random_state=42</a:t>
            </a:r>
          </a:p>
          <a:p>
            <a:r>
              <a:rPr sz="1500"/>
              <a:t>)</a:t>
            </a:r>
          </a:p>
          <a:p>
            <a:r>
              <a:rPr sz="1500"/>
              <a:t>model.fit(X_train, y_train)</a:t>
            </a:r>
          </a:p>
          <a:p>
            <a:r>
              <a:rPr sz="1500"/>
              <a:t>print(f'OOB accuracy: {model.oob_score_:.4f}')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OOB Error and</a:t>
            </a:r>
          </a:p>
          <a:p>
            <a:r>
              <a:t>Tuning the Forest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Out-of-Bag: Free Validation from Bootstrap Sampling</a:t>
            </a:r>
          </a:p>
        </p:txBody>
      </p:sp>
      <p:pic>
        <p:nvPicPr>
          <p:cNvPr id="3" name="Picture 2" descr="o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38647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Curve: More Trees Help, But Returns Diminish</a:t>
            </a:r>
          </a:p>
        </p:txBody>
      </p:sp>
      <p:pic>
        <p:nvPicPr>
          <p:cNvPr id="3" name="Picture 2" descr="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45611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Workshop</a:t>
            </a:r>
          </a:p>
          <a:p>
            <a:r>
              <a:t>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Workshop: 4 Hands-On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Exercise 1:  Single tree overfitting demo vs forest stability</a:t>
            </a:r>
          </a:p>
          <a:p>
            <a:r>
              <a:rPr sz="1600"/>
              <a:t>Exercise 2:  Train a Random Forest - OOB score, tree vs forest accuracy</a:t>
            </a:r>
          </a:p>
          <a:p>
            <a:r>
              <a:rPr sz="1600"/>
              <a:t>Exercise 3:  Feature importance - stable vs noisy (single tree vs forest)</a:t>
            </a:r>
          </a:p>
          <a:p>
            <a:r>
              <a:rPr sz="1600"/>
              <a:t>Exercise 4:  Tune the forest - n_estimators sweep, max_features, learning curve</a:t>
            </a:r>
          </a:p>
          <a:p>
            <a:r>
              <a:rPr sz="1600"/>
              <a:t/>
            </a:r>
          </a:p>
          <a:p>
            <a:r>
              <a:rPr sz="1600"/>
              <a:t>Each exercise: lecture.md + handson.md + solution file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/>
              <a:t>Random Forest = many diverse trees voting together</a:t>
            </a:r>
          </a:p>
          <a:p>
            <a:r>
              <a:rPr sz="1500"/>
              <a:t>Bootstrap sampling + random features = diversity that reduces overfitting</a:t>
            </a:r>
          </a:p>
          <a:p>
            <a:r>
              <a:rPr sz="1500"/>
              <a:t>OOB score gives free validation - no separate test set needed during training</a:t>
            </a:r>
          </a:p>
          <a:p>
            <a:r>
              <a:rPr sz="1500"/>
              <a:t>Feature importance is more stable than a single tree</a:t>
            </a:r>
          </a:p>
          <a:p>
            <a:r>
              <a:rPr sz="1500"/>
              <a:t>100-300 trees is usually sufficient - diminishing returns beyond that</a:t>
            </a:r>
          </a:p>
          <a:p>
            <a:r>
              <a:rPr sz="1500"/>
              <a:t>Next: Clustering - detect anomalies without any labels at all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</a:t>
            </a:r>
          </a:p>
          <a:p>
            <a:r>
              <a:t>Takeaways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Next:  Lesson 2.3 - Clustering and Anomaly Detection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Random Forests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