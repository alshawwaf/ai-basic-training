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Lesson 3.3  |  Stage 3: Neural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Convolutional Networks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Networks That See  -  Spatial Pattern Recognition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/>
              <a:t>Why Dense layers fail on images</a:t>
            </a:r>
          </a:p>
          <a:p>
            <a:r>
              <a:rPr sz="1600"/>
              <a:t>How convolution works - filters and feature maps</a:t>
            </a:r>
          </a:p>
          <a:p>
            <a:r>
              <a:rPr sz="1600"/>
              <a:t>CNN architecture - Conv2D, MaxPooling, Flatten</a:t>
            </a:r>
          </a:p>
          <a:p>
            <a:r>
              <a:rPr sz="1600"/>
              <a:t>Security applications of CNNs</a:t>
            </a:r>
          </a:p>
          <a:p>
            <a:r>
              <a:rPr sz="1600"/>
              <a:t>Building and training a CNN on MNIST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Why Dense</a:t>
            </a:r>
          </a:p>
          <a:p>
            <a:r>
              <a:t>Layers Fail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/>
              <a:t>A CNN knows that pixel (10,10)</a:t>
            </a:r>
          </a:p>
          <a:p>
            <a:r>
              <a:rPr sz="1400"/>
              <a:t>is adjacent to pixel (10,11).</a:t>
            </a:r>
          </a:p>
          <a:p>
            <a:r>
              <a:rPr sz="1400"/>
              <a:t/>
            </a:r>
          </a:p>
          <a:p>
            <a:r>
              <a:rPr sz="1400"/>
              <a:t>A Dense layer does not.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 with Dense Layers on Images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/>
              <a:t>Dense layers treat all inputs equally</a:t>
            </a:r>
          </a:p>
          <a:p>
            <a:r>
              <a:rPr sz="1400"/>
              <a:t>  Pixel (0,0) and pixel (7,7) are the same</a:t>
            </a:r>
          </a:p>
          <a:p>
            <a:r>
              <a:rPr sz="1400"/>
              <a:t>  No concept of 'next to' or 'nearby'</a:t>
            </a:r>
          </a:p>
          <a:p>
            <a:r>
              <a:rPr sz="1400"/>
              <a:t/>
            </a:r>
          </a:p>
          <a:p>
            <a:r>
              <a:rPr sz="1400"/>
              <a:t>Dense flattens the image:</a:t>
            </a:r>
          </a:p>
          <a:p>
            <a:r>
              <a:rPr sz="1400"/>
              <a:t>  8x8 image = 64 independent numbers</a:t>
            </a:r>
          </a:p>
          <a:p>
            <a:r>
              <a:rPr sz="1400"/>
              <a:t>  Spatial relationships are destroyed</a:t>
            </a:r>
          </a:p>
          <a:p>
            <a:r>
              <a:rPr sz="1400"/>
              <a:t/>
            </a:r>
          </a:p>
          <a:p>
            <a:r>
              <a:rPr sz="1400"/>
              <a:t>CNNs preserve spatial structure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How Convolution</a:t>
            </a:r>
          </a:p>
          <a:p>
            <a:r>
              <a:t>Works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Small Filter Slides Across the Entire Image</a:t>
            </a:r>
          </a:p>
        </p:txBody>
      </p:sp>
      <p:pic>
        <p:nvPicPr>
          <p:cNvPr id="3" name="Picture 2" descr="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11612880" cy="4235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CNN</a:t>
            </a:r>
          </a:p>
          <a:p>
            <a:r>
              <a:t>Architecture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Full CNN Pipeline</a:t>
            </a:r>
          </a:p>
        </p:txBody>
      </p:sp>
      <p:pic>
        <p:nvPicPr>
          <p:cNvPr id="3" name="Picture 2" descr="cnn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828800"/>
            <a:ext cx="11795760" cy="304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/>
              <a:t>Conv2D(32, (3,3))</a:t>
            </a:r>
          </a:p>
          <a:p>
            <a:r>
              <a:rPr sz="1400"/>
              <a:t>  32 filters, each 3x3</a:t>
            </a:r>
          </a:p>
          <a:p>
            <a:r>
              <a:rPr sz="1400"/>
              <a:t>  Detects local patterns</a:t>
            </a:r>
          </a:p>
          <a:p>
            <a:r>
              <a:rPr sz="1400"/>
              <a:t>  Output: feature maps</a:t>
            </a:r>
          </a:p>
          <a:p>
            <a:r>
              <a:rPr sz="1400"/>
              <a:t/>
            </a:r>
          </a:p>
          <a:p>
            <a:r>
              <a:rPr sz="1400"/>
              <a:t>MaxPooling2D((2,2))</a:t>
            </a:r>
          </a:p>
          <a:p>
            <a:r>
              <a:rPr sz="1400"/>
              <a:t>  Keeps strongest activation</a:t>
            </a:r>
          </a:p>
          <a:p>
            <a:r>
              <a:rPr sz="1400"/>
              <a:t>  Reduces spatial dimensions</a:t>
            </a:r>
          </a:p>
          <a:p>
            <a:r>
              <a:rPr sz="1400"/>
              <a:t>  Makes features position-tolerant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/>
              <a:t>Flatten()</a:t>
            </a:r>
          </a:p>
          <a:p>
            <a:r>
              <a:rPr sz="1400"/>
              <a:t>  Converts 2D maps to 1D vector</a:t>
            </a:r>
          </a:p>
          <a:p>
            <a:r>
              <a:rPr sz="1400"/>
              <a:t>  Bridge to Dense layers</a:t>
            </a:r>
          </a:p>
          <a:p>
            <a:r>
              <a:rPr sz="1400"/>
              <a:t/>
            </a:r>
          </a:p>
          <a:p>
            <a:r>
              <a:rPr sz="1400"/>
              <a:t>Dense(128, activation='relu')</a:t>
            </a:r>
          </a:p>
          <a:p>
            <a:r>
              <a:rPr sz="1400"/>
              <a:t>  Combines spatial features</a:t>
            </a:r>
          </a:p>
          <a:p>
            <a:r>
              <a:rPr sz="1400"/>
              <a:t/>
            </a:r>
          </a:p>
          <a:p>
            <a:r>
              <a:rPr sz="1400"/>
              <a:t>Dense(10, activation='softmax')</a:t>
            </a:r>
          </a:p>
          <a:p>
            <a:r>
              <a:rPr sz="1400"/>
              <a:t>  Class probabilities (sum=1)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Security</a:t>
            </a:r>
          </a:p>
          <a:p>
            <a:r>
              <a:t>Applications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CNNs in Cybersecurity</a:t>
            </a:r>
          </a:p>
        </p:txBody>
      </p:sp>
      <p:pic>
        <p:nvPicPr>
          <p:cNvPr id="3" name="Picture 2" descr="sec_ap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28800"/>
            <a:ext cx="11612880" cy="32516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Workshop</a:t>
            </a:r>
          </a:p>
          <a:p>
            <a: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/>
              <a:t>Exercise 1:  Why Dense fails on images - flatten destroys spatial info</a:t>
            </a:r>
          </a:p>
          <a:p>
            <a:r>
              <a:rPr sz="1600"/>
              <a:t>Exercise 2:  Conv2D and MaxPooling - filter sliding, shape arithmetic</a:t>
            </a:r>
          </a:p>
          <a:p>
            <a:r>
              <a:rPr sz="1600"/>
              <a:t>Exercise 3:  Build and train a CNN on MNIST - compare to Dense baseline</a:t>
            </a:r>
          </a:p>
          <a:p>
            <a:r>
              <a:rPr sz="1600"/>
              <a:t>Exercise 4:  Malware visualisation - binary to image, CNN relevance</a:t>
            </a:r>
          </a:p>
          <a:p>
            <a:r>
              <a:rPr sz="1600"/>
              <a:t/>
            </a:r>
          </a:p>
          <a:p>
            <a:r>
              <a:rPr sz="1600"/>
              <a:t>MNIST downloads automatically (~11MB), CNN trains in 1-3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/>
              <a:t>Dense layers ignore spatial relationships - CNNs preserve them</a:t>
            </a:r>
          </a:p>
          <a:p>
            <a:r>
              <a:rPr sz="1500"/>
              <a:t>Convolution: small filter slides across image detecting local patterns</a:t>
            </a:r>
          </a:p>
          <a:p>
            <a:r>
              <a:rPr sz="1500"/>
              <a:t>Translation invariance: same pattern detected anywhere in the image</a:t>
            </a:r>
          </a:p>
          <a:p>
            <a:r>
              <a:rPr sz="1500"/>
              <a:t>Architecture: Conv2D -&gt; MaxPool -&gt; Conv2D -&gt; MaxPool -&gt; Flatten -&gt; Dense</a:t>
            </a:r>
          </a:p>
          <a:p>
            <a:r>
              <a:rPr sz="1500"/>
              <a:t>Security use cases: malware images, traffic fingerprinting, log patterns</a:t>
            </a:r>
          </a:p>
          <a:p>
            <a:r>
              <a:rPr sz="1500"/>
              <a:t>Next: Hyperparameter Tuning - systematically optimise your network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</a:t>
            </a:r>
          </a:p>
          <a:p>
            <a:r>
              <a:t>Takeaways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Next:  Lesson 3.4 - Hyperparameter 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Convolutional Networks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