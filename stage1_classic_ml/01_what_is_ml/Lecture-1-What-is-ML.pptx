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1.1 —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What is Machine Learning?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For Security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Traditional programming vs machine learning</a:t>
            </a:r>
          </a:p>
          <a:p>
            <a:pPr/>
            <a:r>
              <a:t>The three types of ML</a:t>
            </a:r>
          </a:p>
          <a:p>
            <a:pPr/>
            <a:r>
              <a:t>How a model actually learns</a:t>
            </a:r>
          </a:p>
          <a:p>
            <a:pPr/>
            <a:r>
              <a:t>The ML workflow</a:t>
            </a:r>
          </a:p>
          <a:p>
            <a:pPr/>
            <a:r>
              <a:t>Exploratory Data Analysis (EDA)</a:t>
            </a:r>
          </a:p>
          <a:p>
            <a:pPr/>
            <a:r>
              <a:t>Key vocabulary</a:t>
            </a:r>
          </a:p>
          <a:p>
            <a:pPr/>
            <a:r>
              <a:t>Tools and libraries</a:t>
            </a:r>
          </a:p>
          <a:p>
            <a:pPr/>
            <a:r>
              <a:t>Workshop: 5 hands-on exercises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Traditional Programming</a:t>
            </a:r>
          </a:p>
          <a:p>
            <a:r>
              <a:t>vs Machine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Traditional Programming — You Write the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You hand-craft explicit rules the computer follows</a:t>
            </a:r>
          </a:p>
          <a:p>
            <a:pPr lvl="1"/>
            <a:r>
              <a:t>if "free money" in email → mark as spam</a:t>
            </a:r>
          </a:p>
          <a:p>
            <a:pPr lvl="1"/>
            <a:r>
              <a:t>if sender not in contacts → mark as spam</a:t>
            </a:r>
          </a:p>
          <a:p>
            <a:pPr lvl="1"/>
            <a:r>
              <a:t>if subject contains "URGENT" → mark as spam</a:t>
            </a:r>
          </a:p>
          <a:p>
            <a:pPr/>
            <a:r>
              <a:t>Problem: attackers learn your rules and work around them</a:t>
            </a:r>
          </a:p>
          <a:p>
            <a:pPr lvl="1"/>
            <a:r>
              <a:t>Change one word → bypass the filter</a:t>
            </a:r>
          </a:p>
          <a:p>
            <a:pPr lvl="1"/>
            <a:r>
              <a:t>Rules don't scale to millions of patterns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— The Computer Finds the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You provide thousands of labelled examples</a:t>
            </a:r>
          </a:p>
          <a:p>
            <a:pPr lvl="1"/>
            <a:r>
              <a:t>10,000 emails tagged as spam or legitimate</a:t>
            </a:r>
          </a:p>
          <a:p>
            <a:pPr/>
            <a:r>
              <a:t>The computer finds statistical patterns across all examples</a:t>
            </a:r>
          </a:p>
          <a:p>
            <a:pPr/>
            <a:r>
              <a:t>Result: a model that generalises to data it has never seen</a:t>
            </a:r>
          </a:p>
          <a:p>
            <a:pPr/>
            <a:r>
              <a:t>Why it works for security:</a:t>
            </a:r>
          </a:p>
          <a:p>
            <a:pPr lvl="1"/>
            <a:r>
              <a:t>Attackers constantly change tactics, but statistical patterns persist</a:t>
            </a:r>
          </a:p>
          <a:p>
            <a:pPr lvl="1"/>
            <a:r>
              <a:t>ML detects subtle combinations no human would write as rules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Three Types of</a:t>
            </a:r>
          </a:p>
          <a:p>
            <a:r>
              <a:t>Machine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Every sample has a correct answer (label) attached</a:t>
            </a:r>
          </a:p>
          <a:p>
            <a:pPr/>
            <a:r>
              <a:t>The model learns the mapping: input features → label</a:t>
            </a:r>
          </a:p>
          <a:p>
            <a:pPr/>
            <a:r>
              <a:t>Example:</a:t>
            </a:r>
          </a:p>
          <a:p>
            <a:pPr lvl="1"/>
            <a:r>
              <a:t>[url_length=92, num_dots=5, has_at_symbol=1]  →  phishing</a:t>
            </a:r>
          </a:p>
          <a:p>
            <a:pPr lvl="1"/>
            <a:r>
              <a:t>[url_length=14, num_dots=1, has_at_symbol=0]  →  legitimate</a:t>
            </a:r>
          </a:p>
          <a:p>
            <a:pPr/>
            <a:r>
              <a:t>Most widely used type in security</a:t>
            </a:r>
          </a:p>
          <a:p>
            <a:pPr lvl="1"/>
            <a:r>
              <a:t>Phishing detector, malware classifier, intrusion detector</a:t>
            </a:r>
          </a:p>
          <a:p>
            <a:pPr/>
            <a:r>
              <a:t>Focus of Stages 1 and 2 in this curriculum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Unsupervised &amp; Reinforcement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Unsupervised Learning — no labels needed</a:t>
            </a:r>
          </a:p>
          <a:p>
            <a:pPr lvl="1"/>
            <a:r>
              <a:t>The algorithm finds structure in the data on its own</a:t>
            </a:r>
          </a:p>
          <a:p>
            <a:pPr lvl="1"/>
            <a:r>
              <a:t>"This connection looks different from all the others"</a:t>
            </a:r>
          </a:p>
          <a:p>
            <a:pPr lvl="1"/>
            <a:r>
              <a:t>Security: anomaly detection, user behaviour clustering</a:t>
            </a:r>
          </a:p>
          <a:p>
            <a:pPr lvl="1"/>
            <a:r>
              <a:t>Covered in Stage 2</a:t>
            </a:r>
          </a:p>
          <a:p>
            <a:pPr/>
            <a:r>
              <a:t>Reinforcement Learning — trial and error</a:t>
            </a:r>
          </a:p>
          <a:p>
            <a:pPr lvl="1"/>
            <a:r>
              <a:t>Agent receives rewards for correct decisions, penalties for bad ones</a:t>
            </a:r>
          </a:p>
          <a:p>
            <a:pPr lvl="1"/>
            <a:r>
              <a:t>Security: automated penetration testing, adaptive response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How a Model</a:t>
            </a:r>
          </a:p>
          <a:p>
            <a:r>
              <a:t>Actually Learns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Learning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 Model makes a prediction on a training sample</a:t>
            </a:r>
          </a:p>
          <a:p>
            <a:pPr/>
            <a:r>
              <a:t>2.  Compare prediction to the correct label — the difference is the loss</a:t>
            </a:r>
          </a:p>
          <a:p>
            <a:pPr/>
            <a:r>
              <a:t>3.  Model adjusts its internal weights slightly to reduce the loss</a:t>
            </a:r>
          </a:p>
          <a:p>
            <a:pPr/>
            <a:r>
              <a:t>4.  Repeat for every sample, thousands of times (epochs)</a:t>
            </a:r>
          </a:p>
          <a:p>
            <a:pPr/>
            <a:r>
              <a:t>After enough repetitions:</a:t>
            </a:r>
          </a:p>
          <a:p>
            <a:pPr lvl="1"/>
            <a:r>
              <a:t>Epoch 1:   Loss = 0.92   (mostly guessing)</a:t>
            </a:r>
          </a:p>
          <a:p>
            <a:pPr lvl="1"/>
            <a:r>
              <a:t>Epoch 10:  Loss = 0.41   (learning patterns)</a:t>
            </a:r>
          </a:p>
          <a:p>
            <a:pPr lvl="1"/>
            <a:r>
              <a:t>Epoch 50:  Loss = 0.08   (reliable predictions)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Terms: Weights and Loss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Weights — the numbers inside the model</a:t>
            </a:r>
          </a:p>
          <a:p>
            <a:pPr lvl="1"/>
            <a:r>
              <a:t>Adjusted during training to minimise loss</a:t>
            </a:r>
          </a:p>
          <a:p>
            <a:pPr lvl="1"/>
            <a:r>
              <a:t>Encode learned patterns like: 'many links + young domain → spam'</a:t>
            </a:r>
          </a:p>
          <a:p>
            <a:pPr/>
            <a:r>
              <a:t>Loss — how wrong the model's predictions are</a:t>
            </a:r>
          </a:p>
          <a:p>
            <a:pPr lvl="1"/>
            <a:r>
              <a:t>Training = finding weights that minimise loss</a:t>
            </a:r>
          </a:p>
          <a:p>
            <a:pPr/>
            <a:r>
              <a:t>You don't write any of this — the ML library handles it</a:t>
            </a:r>
          </a:p>
          <a:p>
            <a:pPr lvl="1"/>
            <a:r>
              <a:t>Understanding it helps you debug when things go wrong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ML Workflow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ML Workflow — Every Project Follows This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 Get data</a:t>
            </a:r>
          </a:p>
          <a:p>
            <a:pPr/>
            <a:r>
              <a:t>2.  Clean and prepare it</a:t>
            </a:r>
          </a:p>
          <a:p>
            <a:pPr/>
            <a:r>
              <a:t>3.  Explore the data (EDA)</a:t>
            </a:r>
          </a:p>
          <a:p>
            <a:pPr/>
            <a:r>
              <a:t>4.  Split into training set and test set</a:t>
            </a:r>
          </a:p>
          <a:p>
            <a:pPr/>
            <a:r>
              <a:t>5.  Train the model on the training set</a:t>
            </a:r>
          </a:p>
          <a:p>
            <a:pPr/>
            <a:r>
              <a:t>6.  Evaluate on the test set</a:t>
            </a:r>
          </a:p>
          <a:p>
            <a:pPr/>
            <a:r>
              <a:t>7.  Tune → repeat from step 5</a:t>
            </a:r>
          </a:p>
          <a:p>
            <a:pPr/>
            <a:r>
              <a:t>8.  Deploy / 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Train / Test Split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If you evaluate on the same data you trained on:</a:t>
            </a:r>
          </a:p>
          <a:p>
            <a:pPr lvl="1"/>
            <a:r>
              <a:t>You are measuring memorisation, not generalisation</a:t>
            </a:r>
          </a:p>
          <a:p>
            <a:pPr lvl="1"/>
            <a:r>
              <a:t>A model can score 100% by memorising every example</a:t>
            </a:r>
          </a:p>
          <a:p>
            <a:pPr/>
            <a:r>
              <a:t>The test set is data the model has never seen</a:t>
            </a:r>
          </a:p>
          <a:p>
            <a:pPr lvl="1"/>
            <a:r>
              <a:t>It gives an honest measure of real-world performance</a:t>
            </a:r>
          </a:p>
          <a:p>
            <a:pPr/>
            <a:r>
              <a:t>This is the most important rule in ML:</a:t>
            </a:r>
          </a:p>
          <a:p>
            <a:pPr lvl="1"/>
            <a:r>
              <a:t>Never evaluate on training data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Exploratory Data</a:t>
            </a:r>
          </a:p>
          <a:p>
            <a:r>
              <a:t>Analysis (EDA)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— Examine Your Data Before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Skipping EDA is the #1 reason ML projects fail silently</a:t>
            </a:r>
          </a:p>
          <a:p>
            <a:pPr lvl="1"/>
            <a:r>
              <a:t>Model trains without errors, looks reasonable, fails in production</a:t>
            </a:r>
          </a:p>
          <a:p>
            <a:pPr/>
            <a:r>
              <a:t>What you are looking for:</a:t>
            </a:r>
          </a:p>
          <a:p>
            <a:pPr lvl="1"/>
            <a:r>
              <a:t>Class balance — how many examples of each class?</a:t>
            </a:r>
          </a:p>
          <a:p>
            <a:pPr lvl="1"/>
            <a:r>
              <a:t>Missing values — gaps in log data, truncated fields</a:t>
            </a:r>
          </a:p>
          <a:p>
            <a:pPr lvl="1"/>
            <a:r>
              <a:t>Feature distributions — outliers, unexpected ranges</a:t>
            </a:r>
          </a:p>
          <a:p>
            <a:pPr lvl="1"/>
            <a:r>
              <a:t>Data leakage — features that reveal the label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Class Imbalance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Typical security dataset:</a:t>
            </a:r>
          </a:p>
          <a:p>
            <a:pPr lvl="1"/>
            <a:r>
              <a:t>Normal traffic:   950,000 connections  (95%)</a:t>
            </a:r>
          </a:p>
          <a:p>
            <a:pPr lvl="1"/>
            <a:r>
              <a:t>Attack traffic:     50,000 connections    (5%)</a:t>
            </a:r>
          </a:p>
          <a:p>
            <a:pPr/>
            <a:r>
              <a:t>A model can achieve 95% accuracy by predicting 'normal' for everything</a:t>
            </a:r>
          </a:p>
          <a:p>
            <a:pPr lvl="1"/>
            <a:r>
              <a:t>It catches zero attacks — but looks great on paper</a:t>
            </a:r>
          </a:p>
          <a:p>
            <a:pPr/>
            <a:r>
              <a:t>This is everywhere in security:</a:t>
            </a:r>
          </a:p>
          <a:p>
            <a:pPr lvl="1"/>
            <a:r>
              <a:t>Malware vs benign files, phishing vs legitimate URLs</a:t>
            </a:r>
          </a:p>
          <a:p>
            <a:pPr/>
            <a:r>
              <a:t>You will learn metrics that handle this in Lesson 1.5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Vocabulary &amp;</a:t>
            </a:r>
          </a:p>
          <a:p>
            <a:r>
              <a:t>Tools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Feature — one measurable input (URL length, bytes sent, port number)</a:t>
            </a:r>
          </a:p>
          <a:p>
            <a:pPr/>
            <a:r>
              <a:t>Label / Target — the answer the model predicts (phishing=1, legit=0)</a:t>
            </a:r>
          </a:p>
          <a:p>
            <a:pPr/>
            <a:r>
              <a:t>Sample — one row of data (one URL, one connection, one log entry)</a:t>
            </a:r>
          </a:p>
          <a:p>
            <a:pPr/>
            <a:r>
              <a:t>Training set — the data the model learns from</a:t>
            </a:r>
          </a:p>
          <a:p>
            <a:pPr/>
            <a:r>
              <a:t>Test set — held-back data to evaluate the model honestly</a:t>
            </a:r>
          </a:p>
          <a:p>
            <a:pPr/>
            <a:r>
              <a:t>Loss — how wrong the predictions are (training minimises this)</a:t>
            </a:r>
          </a:p>
          <a:p>
            <a:pPr/>
            <a:r>
              <a:t>Epoch — one full pass through the training data</a:t>
            </a:r>
          </a:p>
          <a:p>
            <a:pPr/>
            <a:r>
              <a:t>Overfitting — model memorised training data but fails on new data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Python Libraries You Will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NumPy (np) — fast numerical arrays, foundation of all ML in Python</a:t>
            </a:r>
          </a:p>
          <a:p>
            <a:pPr/>
            <a:r>
              <a:t>pandas (pd) — DataFrames for tabular data, like a spreadsheet in code</a:t>
            </a:r>
          </a:p>
          <a:p>
            <a:pPr/>
            <a:r>
              <a:t>Matplotlib (plt) — plotting and visualisation</a:t>
            </a:r>
          </a:p>
          <a:p>
            <a:pPr/>
            <a:r>
              <a:t>scikit-learn (sklearn) — ML algorithms, datasets, evaluation tools</a:t>
            </a:r>
          </a:p>
          <a:p>
            <a:pPr/>
            <a:r>
              <a:t>These four libraries appear in every lesson</a:t>
            </a:r>
          </a:p>
          <a:p>
            <a:pPr/>
            <a:r>
              <a:t>All are installed via pip:</a:t>
            </a:r>
          </a:p>
          <a:p>
            <a:pPr lvl="1"/>
            <a:r>
              <a:t>pip install pandas scikit-learn matplotlib seaborn numpy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Workshop</a:t>
            </a:r>
          </a:p>
          <a:p>
            <a:r>
              <a:t>5 Hands-On Exercises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— 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Exercise 1: Loading a dataset — Bunch objects, DataFrames, features vs labels</a:t>
            </a:r>
          </a:p>
          <a:p>
            <a:pPr/>
            <a:r>
              <a:t>Exercise 2: Shape and statistics — .describe(), missing values, zero-variance</a:t>
            </a:r>
          </a:p>
          <a:p>
            <a:pPr/>
            <a:r>
              <a:t>Exercise 3: Class balance — the naive accuracy trap, imbalance ratio</a:t>
            </a:r>
          </a:p>
          <a:p>
            <a:pPr/>
            <a:r>
              <a:t>Exercise 4: Visualising data — image grids, average prototypes</a:t>
            </a:r>
          </a:p>
          <a:p>
            <a:pPr/>
            <a:r>
              <a:t>Exercise 5: What the model sees — number grids, correlations, security analogy</a:t>
            </a:r>
          </a:p>
          <a:p>
            <a:pPr/>
            <a:r>
              <a:t>Each exercise has:</a:t>
            </a:r>
          </a:p>
          <a:p>
            <a:pPr lvl="1"/>
            <a:r>
              <a:t>lecture.md — concept explanation (read first)</a:t>
            </a:r>
          </a:p>
          <a:p>
            <a:pPr lvl="1"/>
            <a:r>
              <a:t>handson.md — step-by-step lab instructions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For each exercise:</a:t>
            </a:r>
          </a:p>
          <a:p>
            <a:pPr lvl="1"/>
            <a:r>
              <a:t>1.  Read the lecture — understand the concept and methods</a:t>
            </a:r>
          </a:p>
          <a:p>
            <a:pPr lvl="1"/>
            <a:r>
              <a:t>2.  Follow the handson — build your script step by step</a:t>
            </a:r>
          </a:p>
          <a:p>
            <a:pPr lvl="1"/>
            <a:r>
              <a:t>3.  Run your script and verify output matches expected results</a:t>
            </a:r>
          </a:p>
          <a:p>
            <a:pPr lvl="1"/>
            <a:r>
              <a:t>4.  Compare against the solution file when done</a:t>
            </a:r>
          </a:p>
          <a:p>
            <a:pPr/>
            <a:r>
              <a:t>Tips:</a:t>
            </a:r>
          </a:p>
          <a:p>
            <a:pPr lvl="1"/>
            <a:r>
              <a:t>Stuck? Re-read the lecture for that exercise</a:t>
            </a:r>
          </a:p>
          <a:p>
            <a:pPr lvl="1"/>
            <a:r>
              <a:t>Output doesn't match? Check variable names (case-sensitive)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ML lets the computer find patterns from labelled examples — no hand-crafted rules</a:t>
            </a:r>
          </a:p>
          <a:p>
            <a:pPr/>
            <a:r>
              <a:t>Supervised learning is the most common type in security</a:t>
            </a:r>
          </a:p>
          <a:p>
            <a:pPr/>
            <a:r>
              <a:t>Training = adjusting weights to minimise loss over many epochs</a:t>
            </a:r>
          </a:p>
          <a:p>
            <a:pPr/>
            <a:r>
              <a:t>Every ML project follows the same workflow: data → EDA → split → train → evaluate</a:t>
            </a:r>
          </a:p>
          <a:p>
            <a:pPr/>
            <a:r>
              <a:t>Never evaluate on training data — always use a held-out test set</a:t>
            </a:r>
          </a:p>
          <a:p>
            <a:pPr/>
            <a:r>
              <a:t>EDA catches silent failures: class imbalance, missing values, data leakage</a:t>
            </a:r>
          </a:p>
          <a:p>
            <a:pPr/>
            <a:r>
              <a:t>Next: Lesson 1.2 — Linear Regression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 → Lesson 1.2: Linear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What is Machine Learning?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